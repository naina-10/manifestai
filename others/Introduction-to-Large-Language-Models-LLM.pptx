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4630400" cy="8229600"/>
  <p:notesSz cx="8229600" cy="14630400"/>
  <p:embeddedFontLst>
    <p:embeddedFont>
      <p:font typeface="Gelasio"/>
      <p:regular r:id="rId21"/>
    </p:embeddedFont>
    <p:embeddedFont>
      <p:font typeface="Gelasio"/>
      <p:regular r:id="rId22"/>
    </p:embeddedFont>
    <p:embeddedFont>
      <p:font typeface="Gelasio"/>
      <p:regular r:id="rId23"/>
    </p:embeddedFont>
    <p:embeddedFont>
      <p:font typeface="Gelasio"/>
      <p:regular r:id="rId24"/>
    </p:embeddedFont>
    <p:embeddedFont>
      <p:font typeface="Gelasio"/>
      <p:regular r:id="rId25"/>
    </p:embeddedFont>
    <p:embeddedFont>
      <p:font typeface="Gelasio"/>
      <p:regular r:id="rId26"/>
    </p:embeddedFont>
    <p:embeddedFont>
      <p:font typeface="Gelasio"/>
      <p:regular r:id="rId27"/>
    </p:embeddedFont>
    <p:embeddedFont>
      <p:font typeface="Gelasio"/>
      <p:regular r:id="rId2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font" Target="fonts/font4.fntdata"/><Relationship Id="rId25" Type="http://schemas.openxmlformats.org/officeDocument/2006/relationships/font" Target="fonts/font5.fntdata"/><Relationship Id="rId26" Type="http://schemas.openxmlformats.org/officeDocument/2006/relationships/font" Target="fonts/font6.fntdata"/><Relationship Id="rId27" Type="http://schemas.openxmlformats.org/officeDocument/2006/relationships/font" Target="fonts/font7.fntdata"/><Relationship Id="rId28"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4-1.pn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5-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5.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745462"/>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D8B6A4"/>
                </a:solidFill>
                <a:latin typeface="Gelasio" pitchFamily="34" charset="0"/>
                <a:ea typeface="Gelasio" pitchFamily="34" charset="-122"/>
                <a:cs typeface="Gelasio" pitchFamily="34" charset="-120"/>
              </a:rPr>
              <a:t>Introduction to Large Language Models (LLM)</a:t>
            </a:r>
            <a:endParaRPr lang="en-US" sz="4450" dirty="0"/>
          </a:p>
        </p:txBody>
      </p:sp>
      <p:sp>
        <p:nvSpPr>
          <p:cNvPr id="4" name="Text 1"/>
          <p:cNvSpPr/>
          <p:nvPr/>
        </p:nvSpPr>
        <p:spPr>
          <a:xfrm>
            <a:off x="6280190" y="4503182"/>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C9C2C0"/>
                </a:solidFill>
                <a:latin typeface="Gelasio" pitchFamily="34" charset="0"/>
                <a:ea typeface="Gelasio" pitchFamily="34" charset="-122"/>
                <a:cs typeface="Gelasio" pitchFamily="34" charset="-120"/>
              </a:rPr>
              <a:t>Presented by:</a:t>
            </a:r>
            <a:endParaRPr lang="en-US" sz="1750" dirty="0"/>
          </a:p>
        </p:txBody>
      </p:sp>
      <p:sp>
        <p:nvSpPr>
          <p:cNvPr id="5" name="Text 2"/>
          <p:cNvSpPr/>
          <p:nvPr/>
        </p:nvSpPr>
        <p:spPr>
          <a:xfrm>
            <a:off x="6280190" y="5121235"/>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C9C2C0"/>
                </a:solidFill>
                <a:latin typeface="Gelasio" pitchFamily="34" charset="0"/>
                <a:ea typeface="Gelasio" pitchFamily="34" charset="-122"/>
                <a:cs typeface="Gelasio" pitchFamily="34" charset="-120"/>
              </a:rPr>
              <a:t> Abhay Kallur, Adityan CG, Naina Pandey, P Sneha Deepika</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25354"/>
            <a:ext cx="8459033" cy="708779"/>
          </a:xfrm>
          <a:prstGeom prst="rect">
            <a:avLst/>
          </a:prstGeom>
          <a:noFill/>
          <a:ln/>
        </p:spPr>
        <p:txBody>
          <a:bodyPr wrap="none" lIns="0" tIns="0" rIns="0" bIns="0" rtlCol="0" anchor="t"/>
          <a:lstStyle/>
          <a:p>
            <a:pPr algn="l" indent="0" marL="0">
              <a:lnSpc>
                <a:spcPts val="5550"/>
              </a:lnSpc>
              <a:buNone/>
            </a:pPr>
            <a:r>
              <a:rPr lang="en-US" sz="4450" dirty="0">
                <a:solidFill>
                  <a:srgbClr val="D8B6A4"/>
                </a:solidFill>
                <a:latin typeface="Gelasio" pitchFamily="34" charset="0"/>
                <a:ea typeface="Gelasio" pitchFamily="34" charset="-122"/>
                <a:cs typeface="Gelasio" pitchFamily="34" charset="-120"/>
              </a:rPr>
              <a:t>What is a Large Language Model?</a:t>
            </a:r>
            <a:endParaRPr lang="en-US" sz="4450" dirty="0"/>
          </a:p>
        </p:txBody>
      </p:sp>
      <p:pic>
        <p:nvPicPr>
          <p:cNvPr id="3" name="Image 0" descr="preencoded.png">    </p:cNvPr>
          <p:cNvPicPr>
            <a:picLocks noChangeAspect="1"/>
          </p:cNvPicPr>
          <p:nvPr/>
        </p:nvPicPr>
        <p:blipFill>
          <a:blip r:embed="rId1"/>
          <a:stretch>
            <a:fillRect/>
          </a:stretch>
        </p:blipFill>
        <p:spPr>
          <a:xfrm>
            <a:off x="793790" y="2292072"/>
            <a:ext cx="8284131" cy="4694277"/>
          </a:xfrm>
          <a:prstGeom prst="rect">
            <a:avLst/>
          </a:prstGeom>
        </p:spPr>
      </p:pic>
      <p:sp>
        <p:nvSpPr>
          <p:cNvPr id="4" name="Text 1"/>
          <p:cNvSpPr/>
          <p:nvPr/>
        </p:nvSpPr>
        <p:spPr>
          <a:xfrm>
            <a:off x="9638943" y="2178368"/>
            <a:ext cx="4205168" cy="2903220"/>
          </a:xfrm>
          <a:prstGeom prst="rect">
            <a:avLst/>
          </a:prstGeom>
          <a:noFill/>
          <a:ln/>
        </p:spPr>
        <p:txBody>
          <a:bodyPr wrap="square" lIns="0" tIns="0" rIns="0" bIns="0" rtlCol="0" anchor="t"/>
          <a:lstStyle/>
          <a:p>
            <a:pPr algn="l" indent="0" marL="0">
              <a:lnSpc>
                <a:spcPts val="2850"/>
              </a:lnSpc>
              <a:buNone/>
            </a:pPr>
            <a:r>
              <a:rPr lang="en-US" sz="1750" dirty="0">
                <a:solidFill>
                  <a:srgbClr val="C9C2C0"/>
                </a:solidFill>
                <a:latin typeface="Gelasio" pitchFamily="34" charset="0"/>
                <a:ea typeface="Gelasio" pitchFamily="34" charset="-122"/>
                <a:cs typeface="Gelasio" pitchFamily="34" charset="-120"/>
              </a:rPr>
              <a:t>A Large Language Model (LLM) is a sophisticated AI system designed to understand, process, and generate human language with remarkable fluency. These models are trained on vast amounts of text data, learning the intricate patterns, connections, and relationships between words, sentences, and ideas.</a:t>
            </a:r>
            <a:endParaRPr lang="en-US" sz="1750" dirty="0"/>
          </a:p>
        </p:txBody>
      </p:sp>
      <p:sp>
        <p:nvSpPr>
          <p:cNvPr id="5" name="Text 2"/>
          <p:cNvSpPr/>
          <p:nvPr/>
        </p:nvSpPr>
        <p:spPr>
          <a:xfrm>
            <a:off x="9638943" y="5285661"/>
            <a:ext cx="4205168" cy="1814513"/>
          </a:xfrm>
          <a:prstGeom prst="rect">
            <a:avLst/>
          </a:prstGeom>
          <a:noFill/>
          <a:ln/>
        </p:spPr>
        <p:txBody>
          <a:bodyPr wrap="square" lIns="0" tIns="0" rIns="0" bIns="0" rtlCol="0" anchor="t"/>
          <a:lstStyle/>
          <a:p>
            <a:pPr algn="l" indent="0" marL="0">
              <a:lnSpc>
                <a:spcPts val="2850"/>
              </a:lnSpc>
              <a:buNone/>
            </a:pPr>
            <a:r>
              <a:rPr lang="en-US" sz="1750" dirty="0">
                <a:solidFill>
                  <a:srgbClr val="C9C2C0"/>
                </a:solidFill>
                <a:latin typeface="Gelasio" pitchFamily="34" charset="0"/>
                <a:ea typeface="Gelasio" pitchFamily="34" charset="-122"/>
                <a:cs typeface="Gelasio" pitchFamily="34" charset="-120"/>
              </a:rPr>
              <a:t>Think of an LLM as a highly intelligent reading and writing assistant that can comprehend context, generate coherent responses, and communicate naturally—much like a human would.</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330881" y="507325"/>
            <a:ext cx="4430554" cy="541972"/>
          </a:xfrm>
          <a:prstGeom prst="rect">
            <a:avLst/>
          </a:prstGeom>
          <a:noFill/>
          <a:ln/>
        </p:spPr>
        <p:txBody>
          <a:bodyPr wrap="none" lIns="0" tIns="0" rIns="0" bIns="0" rtlCol="0" anchor="t"/>
          <a:lstStyle/>
          <a:p>
            <a:pPr algn="l" indent="0" marL="0">
              <a:lnSpc>
                <a:spcPts val="4250"/>
              </a:lnSpc>
              <a:buNone/>
            </a:pPr>
            <a:r>
              <a:rPr lang="en-US" sz="3400" dirty="0">
                <a:solidFill>
                  <a:srgbClr val="D8B6A4"/>
                </a:solidFill>
                <a:latin typeface="Gelasio" pitchFamily="34" charset="0"/>
                <a:ea typeface="Gelasio" pitchFamily="34" charset="-122"/>
                <a:cs typeface="Gelasio" pitchFamily="34" charset="-120"/>
              </a:rPr>
              <a:t>How LLMs are Created</a:t>
            </a:r>
            <a:endParaRPr lang="en-US" sz="3400" dirty="0"/>
          </a:p>
        </p:txBody>
      </p:sp>
      <p:pic>
        <p:nvPicPr>
          <p:cNvPr id="3" name="Image 0" descr="preencoded.png">    </p:cNvPr>
          <p:cNvPicPr>
            <a:picLocks noChangeAspect="1"/>
          </p:cNvPicPr>
          <p:nvPr/>
        </p:nvPicPr>
        <p:blipFill>
          <a:blip r:embed="rId1"/>
          <a:stretch>
            <a:fillRect/>
          </a:stretch>
        </p:blipFill>
        <p:spPr>
          <a:xfrm>
            <a:off x="1869519" y="1314569"/>
            <a:ext cx="10891361" cy="5768816"/>
          </a:xfrm>
          <a:prstGeom prst="rect">
            <a:avLst/>
          </a:prstGeom>
        </p:spPr>
      </p:pic>
      <p:sp>
        <p:nvSpPr>
          <p:cNvPr id="4" name="Text 1"/>
          <p:cNvSpPr/>
          <p:nvPr/>
        </p:nvSpPr>
        <p:spPr>
          <a:xfrm>
            <a:off x="3377423" y="5437528"/>
            <a:ext cx="2692911" cy="336614"/>
          </a:xfrm>
          <a:prstGeom prst="rect">
            <a:avLst/>
          </a:prstGeom>
          <a:noFill/>
          <a:ln/>
        </p:spPr>
        <p:txBody>
          <a:bodyPr wrap="none" lIns="0" tIns="0" rIns="0" bIns="0" rtlCol="0" anchor="t"/>
          <a:lstStyle/>
          <a:p>
            <a:pPr algn="r" indent="0" marL="0">
              <a:lnSpc>
                <a:spcPts val="2650"/>
              </a:lnSpc>
              <a:buNone/>
            </a:pPr>
            <a:r>
              <a:rPr lang="en-US" sz="2100" dirty="0">
                <a:solidFill>
                  <a:srgbClr val="D8B6A4"/>
                </a:solidFill>
                <a:latin typeface="Gelasio" pitchFamily="34" charset="0"/>
                <a:ea typeface="Gelasio" pitchFamily="34" charset="-122"/>
                <a:cs typeface="Gelasio" pitchFamily="34" charset="-120"/>
              </a:rPr>
              <a:t>Data Collection</a:t>
            </a:r>
            <a:endParaRPr lang="en-US" sz="2100" dirty="0"/>
          </a:p>
        </p:txBody>
      </p:sp>
      <p:sp>
        <p:nvSpPr>
          <p:cNvPr id="5" name="Text 2"/>
          <p:cNvSpPr/>
          <p:nvPr/>
        </p:nvSpPr>
        <p:spPr>
          <a:xfrm>
            <a:off x="3185927" y="5869890"/>
            <a:ext cx="2884407" cy="475000"/>
          </a:xfrm>
          <a:prstGeom prst="rect">
            <a:avLst/>
          </a:prstGeom>
          <a:noFill/>
          <a:ln/>
        </p:spPr>
        <p:txBody>
          <a:bodyPr wrap="square" lIns="0" tIns="0" rIns="0" bIns="0" rtlCol="0" anchor="t"/>
          <a:lstStyle/>
          <a:p>
            <a:pPr algn="r" indent="0" marL="0">
              <a:lnSpc>
                <a:spcPts val="1850"/>
              </a:lnSpc>
              <a:buNone/>
            </a:pPr>
            <a:r>
              <a:rPr lang="en-US" sz="1650" dirty="0">
                <a:solidFill>
                  <a:srgbClr val="C9C2C0"/>
                </a:solidFill>
                <a:latin typeface="Gelasio" pitchFamily="34" charset="0"/>
                <a:ea typeface="Gelasio" pitchFamily="34" charset="-122"/>
                <a:cs typeface="Gelasio" pitchFamily="34" charset="-120"/>
              </a:rPr>
              <a:t>Gather text from books, websites, and articles.</a:t>
            </a:r>
            <a:endParaRPr lang="en-US" sz="1650" dirty="0"/>
          </a:p>
        </p:txBody>
      </p:sp>
      <p:sp>
        <p:nvSpPr>
          <p:cNvPr id="6" name="Text 3"/>
          <p:cNvSpPr/>
          <p:nvPr/>
        </p:nvSpPr>
        <p:spPr>
          <a:xfrm>
            <a:off x="2324195" y="2052689"/>
            <a:ext cx="2692911" cy="336614"/>
          </a:xfrm>
          <a:prstGeom prst="rect">
            <a:avLst/>
          </a:prstGeom>
          <a:noFill/>
          <a:ln/>
        </p:spPr>
        <p:txBody>
          <a:bodyPr wrap="none" lIns="0" tIns="0" rIns="0" bIns="0" rtlCol="0" anchor="t"/>
          <a:lstStyle/>
          <a:p>
            <a:pPr algn="r" indent="0" marL="0">
              <a:lnSpc>
                <a:spcPts val="2650"/>
              </a:lnSpc>
              <a:buNone/>
            </a:pPr>
            <a:r>
              <a:rPr lang="en-US" sz="2100" dirty="0">
                <a:solidFill>
                  <a:srgbClr val="D8B6A4"/>
                </a:solidFill>
                <a:latin typeface="Gelasio" pitchFamily="34" charset="0"/>
                <a:ea typeface="Gelasio" pitchFamily="34" charset="-122"/>
                <a:cs typeface="Gelasio" pitchFamily="34" charset="-120"/>
              </a:rPr>
              <a:t>Training</a:t>
            </a:r>
            <a:endParaRPr lang="en-US" sz="2100" dirty="0"/>
          </a:p>
        </p:txBody>
      </p:sp>
      <p:sp>
        <p:nvSpPr>
          <p:cNvPr id="7" name="Text 4"/>
          <p:cNvSpPr/>
          <p:nvPr/>
        </p:nvSpPr>
        <p:spPr>
          <a:xfrm>
            <a:off x="2132699" y="2485050"/>
            <a:ext cx="2884407" cy="475000"/>
          </a:xfrm>
          <a:prstGeom prst="rect">
            <a:avLst/>
          </a:prstGeom>
          <a:noFill/>
          <a:ln/>
        </p:spPr>
        <p:txBody>
          <a:bodyPr wrap="square" lIns="0" tIns="0" rIns="0" bIns="0" rtlCol="0" anchor="t"/>
          <a:lstStyle/>
          <a:p>
            <a:pPr algn="r" indent="0" marL="0">
              <a:lnSpc>
                <a:spcPts val="1850"/>
              </a:lnSpc>
              <a:buNone/>
            </a:pPr>
            <a:r>
              <a:rPr lang="en-US" sz="1650" dirty="0">
                <a:solidFill>
                  <a:srgbClr val="C9C2C0"/>
                </a:solidFill>
                <a:latin typeface="Gelasio" pitchFamily="34" charset="0"/>
                <a:ea typeface="Gelasio" pitchFamily="34" charset="-122"/>
                <a:cs typeface="Gelasio" pitchFamily="34" charset="-120"/>
              </a:rPr>
              <a:t>Learn language patterns with machine learning.</a:t>
            </a:r>
            <a:endParaRPr lang="en-US" sz="1650" dirty="0"/>
          </a:p>
        </p:txBody>
      </p:sp>
      <p:sp>
        <p:nvSpPr>
          <p:cNvPr id="8" name="Text 5"/>
          <p:cNvSpPr/>
          <p:nvPr/>
        </p:nvSpPr>
        <p:spPr>
          <a:xfrm>
            <a:off x="8595686" y="2052689"/>
            <a:ext cx="2692912" cy="336614"/>
          </a:xfrm>
          <a:prstGeom prst="rect">
            <a:avLst/>
          </a:prstGeom>
          <a:noFill/>
          <a:ln/>
        </p:spPr>
        <p:txBody>
          <a:bodyPr wrap="none" lIns="0" tIns="0" rIns="0" bIns="0" rtlCol="0" anchor="t"/>
          <a:lstStyle/>
          <a:p>
            <a:pPr algn="l" indent="0" marL="0">
              <a:lnSpc>
                <a:spcPts val="2650"/>
              </a:lnSpc>
              <a:buNone/>
            </a:pPr>
            <a:r>
              <a:rPr lang="en-US" sz="2100" dirty="0">
                <a:solidFill>
                  <a:srgbClr val="D8B6A4"/>
                </a:solidFill>
                <a:latin typeface="Gelasio" pitchFamily="34" charset="0"/>
                <a:ea typeface="Gelasio" pitchFamily="34" charset="-122"/>
                <a:cs typeface="Gelasio" pitchFamily="34" charset="-120"/>
              </a:rPr>
              <a:t>Fine-tuning</a:t>
            </a:r>
            <a:endParaRPr lang="en-US" sz="2100" dirty="0"/>
          </a:p>
        </p:txBody>
      </p:sp>
      <p:sp>
        <p:nvSpPr>
          <p:cNvPr id="9" name="Text 6"/>
          <p:cNvSpPr/>
          <p:nvPr/>
        </p:nvSpPr>
        <p:spPr>
          <a:xfrm>
            <a:off x="8595686" y="2485050"/>
            <a:ext cx="2884407" cy="475000"/>
          </a:xfrm>
          <a:prstGeom prst="rect">
            <a:avLst/>
          </a:prstGeom>
          <a:noFill/>
          <a:ln/>
        </p:spPr>
        <p:txBody>
          <a:bodyPr wrap="square" lIns="0" tIns="0" rIns="0" bIns="0" rtlCol="0" anchor="t"/>
          <a:lstStyle/>
          <a:p>
            <a:pPr algn="l" indent="0" marL="0">
              <a:lnSpc>
                <a:spcPts val="1850"/>
              </a:lnSpc>
              <a:buNone/>
            </a:pPr>
            <a:r>
              <a:rPr lang="en-US" sz="1650" dirty="0">
                <a:solidFill>
                  <a:srgbClr val="C9C2C0"/>
                </a:solidFill>
                <a:latin typeface="Gelasio" pitchFamily="34" charset="0"/>
                <a:ea typeface="Gelasio" pitchFamily="34" charset="-122"/>
                <a:cs typeface="Gelasio" pitchFamily="34" charset="-120"/>
              </a:rPr>
              <a:t>Improve accuracy, safety, and task alignment.</a:t>
            </a:r>
            <a:endParaRPr lang="en-US" sz="1650" dirty="0"/>
          </a:p>
        </p:txBody>
      </p:sp>
      <p:sp>
        <p:nvSpPr>
          <p:cNvPr id="10" name="Text 7"/>
          <p:cNvSpPr/>
          <p:nvPr/>
        </p:nvSpPr>
        <p:spPr>
          <a:xfrm>
            <a:off x="9613008" y="5437716"/>
            <a:ext cx="2692912" cy="336614"/>
          </a:xfrm>
          <a:prstGeom prst="rect">
            <a:avLst/>
          </a:prstGeom>
          <a:noFill/>
          <a:ln/>
        </p:spPr>
        <p:txBody>
          <a:bodyPr wrap="none" lIns="0" tIns="0" rIns="0" bIns="0" rtlCol="0" anchor="t"/>
          <a:lstStyle/>
          <a:p>
            <a:pPr algn="l" indent="0" marL="0">
              <a:lnSpc>
                <a:spcPts val="2650"/>
              </a:lnSpc>
              <a:buNone/>
            </a:pPr>
            <a:r>
              <a:rPr lang="en-US" sz="2100" dirty="0">
                <a:solidFill>
                  <a:srgbClr val="D8B6A4"/>
                </a:solidFill>
                <a:latin typeface="Gelasio" pitchFamily="34" charset="0"/>
                <a:ea typeface="Gelasio" pitchFamily="34" charset="-122"/>
                <a:cs typeface="Gelasio" pitchFamily="34" charset="-120"/>
              </a:rPr>
              <a:t>Deployment</a:t>
            </a:r>
            <a:endParaRPr lang="en-US" sz="2100" dirty="0"/>
          </a:p>
        </p:txBody>
      </p:sp>
      <p:sp>
        <p:nvSpPr>
          <p:cNvPr id="11" name="Text 8"/>
          <p:cNvSpPr/>
          <p:nvPr/>
        </p:nvSpPr>
        <p:spPr>
          <a:xfrm>
            <a:off x="9613008" y="5870077"/>
            <a:ext cx="2884407" cy="475000"/>
          </a:xfrm>
          <a:prstGeom prst="rect">
            <a:avLst/>
          </a:prstGeom>
          <a:noFill/>
          <a:ln/>
        </p:spPr>
        <p:txBody>
          <a:bodyPr wrap="square" lIns="0" tIns="0" rIns="0" bIns="0" rtlCol="0" anchor="t"/>
          <a:lstStyle/>
          <a:p>
            <a:pPr algn="l" indent="0" marL="0">
              <a:lnSpc>
                <a:spcPts val="1850"/>
              </a:lnSpc>
              <a:buNone/>
            </a:pPr>
            <a:r>
              <a:rPr lang="en-US" sz="1650" dirty="0">
                <a:solidFill>
                  <a:srgbClr val="C9C2C0"/>
                </a:solidFill>
                <a:latin typeface="Gelasio" pitchFamily="34" charset="0"/>
                <a:ea typeface="Gelasio" pitchFamily="34" charset="-122"/>
                <a:cs typeface="Gelasio" pitchFamily="34" charset="-120"/>
              </a:rPr>
              <a:t>Integrate models into chatbots and AI tools.</a:t>
            </a:r>
            <a:endParaRPr lang="en-US" sz="1650" dirty="0"/>
          </a:p>
        </p:txBody>
      </p:sp>
      <p:sp>
        <p:nvSpPr>
          <p:cNvPr id="12" name="Text 9"/>
          <p:cNvSpPr/>
          <p:nvPr/>
        </p:nvSpPr>
        <p:spPr>
          <a:xfrm>
            <a:off x="1330881" y="7232571"/>
            <a:ext cx="11968639" cy="489585"/>
          </a:xfrm>
          <a:prstGeom prst="rect">
            <a:avLst/>
          </a:prstGeom>
          <a:noFill/>
          <a:ln/>
        </p:spPr>
        <p:txBody>
          <a:bodyPr wrap="square" lIns="0" tIns="0" rIns="0" bIns="0" rtlCol="0" anchor="t"/>
          <a:lstStyle/>
          <a:p>
            <a:pPr algn="l" indent="0" marL="0">
              <a:lnSpc>
                <a:spcPts val="1900"/>
              </a:lnSpc>
              <a:buNone/>
            </a:pPr>
            <a:r>
              <a:rPr lang="en-US" sz="1350" dirty="0">
                <a:solidFill>
                  <a:srgbClr val="C9C2C0"/>
                </a:solidFill>
                <a:latin typeface="Gelasio" pitchFamily="34" charset="0"/>
                <a:ea typeface="Gelasio" pitchFamily="34" charset="-122"/>
                <a:cs typeface="Gelasio" pitchFamily="34" charset="-120"/>
              </a:rPr>
              <a:t>Building an LLM is a sophisticated process that transforms raw text into intelligent conversational systems. Each stage is critical to developing a model that is accurate, helpful, and safe to use in real-world applications.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082635"/>
            <a:ext cx="7556183" cy="708779"/>
          </a:xfrm>
          <a:prstGeom prst="rect">
            <a:avLst/>
          </a:prstGeom>
          <a:noFill/>
          <a:ln/>
        </p:spPr>
        <p:txBody>
          <a:bodyPr wrap="none" lIns="0" tIns="0" rIns="0" bIns="0" rtlCol="0" anchor="t"/>
          <a:lstStyle/>
          <a:p>
            <a:pPr algn="l" indent="0" marL="0">
              <a:lnSpc>
                <a:spcPts val="5550"/>
              </a:lnSpc>
              <a:buNone/>
            </a:pPr>
            <a:r>
              <a:rPr lang="en-US" sz="4450" dirty="0">
                <a:solidFill>
                  <a:srgbClr val="D8B6A4"/>
                </a:solidFill>
                <a:latin typeface="Gelasio" pitchFamily="34" charset="0"/>
                <a:ea typeface="Gelasio" pitchFamily="34" charset="-122"/>
                <a:cs typeface="Gelasio" pitchFamily="34" charset="-120"/>
              </a:rPr>
              <a:t>Powerful Capabilities of LLMs</a:t>
            </a:r>
            <a:endParaRPr lang="en-US" sz="4450" dirty="0"/>
          </a:p>
        </p:txBody>
      </p:sp>
      <p:sp>
        <p:nvSpPr>
          <p:cNvPr id="3" name="Shape 1"/>
          <p:cNvSpPr/>
          <p:nvPr/>
        </p:nvSpPr>
        <p:spPr>
          <a:xfrm>
            <a:off x="793790" y="2245043"/>
            <a:ext cx="3090505" cy="2387084"/>
          </a:xfrm>
          <a:prstGeom prst="roundRect">
            <a:avLst>
              <a:gd name="adj" fmla="val 1425"/>
            </a:avLst>
          </a:prstGeom>
          <a:solidFill>
            <a:srgbClr val="373433"/>
          </a:solidFill>
          <a:ln/>
        </p:spPr>
      </p:sp>
      <p:sp>
        <p:nvSpPr>
          <p:cNvPr id="4" name="Text 2"/>
          <p:cNvSpPr/>
          <p:nvPr/>
        </p:nvSpPr>
        <p:spPr>
          <a:xfrm>
            <a:off x="1020604" y="2471857"/>
            <a:ext cx="2636877" cy="708660"/>
          </a:xfrm>
          <a:prstGeom prst="rect">
            <a:avLst/>
          </a:prstGeom>
          <a:noFill/>
          <a:ln/>
        </p:spPr>
        <p:txBody>
          <a:bodyPr wrap="square" lIns="0" tIns="0" rIns="0" bIns="0" rtlCol="0" anchor="t"/>
          <a:lstStyle/>
          <a:p>
            <a:pPr algn="l" indent="0" marL="0">
              <a:lnSpc>
                <a:spcPts val="2750"/>
              </a:lnSpc>
              <a:buNone/>
            </a:pPr>
            <a:r>
              <a:rPr lang="en-US" sz="2200" dirty="0">
                <a:solidFill>
                  <a:srgbClr val="C9C2C0"/>
                </a:solidFill>
                <a:latin typeface="Gelasio" pitchFamily="34" charset="0"/>
                <a:ea typeface="Gelasio" pitchFamily="34" charset="-122"/>
                <a:cs typeface="Gelasio" pitchFamily="34" charset="-120"/>
              </a:rPr>
              <a:t>Natural Language Understanding</a:t>
            </a:r>
            <a:endParaRPr lang="en-US" sz="2200" dirty="0"/>
          </a:p>
        </p:txBody>
      </p:sp>
      <p:sp>
        <p:nvSpPr>
          <p:cNvPr id="5" name="Text 3"/>
          <p:cNvSpPr/>
          <p:nvPr/>
        </p:nvSpPr>
        <p:spPr>
          <a:xfrm>
            <a:off x="1020604" y="3316605"/>
            <a:ext cx="2636877" cy="1088708"/>
          </a:xfrm>
          <a:prstGeom prst="rect">
            <a:avLst/>
          </a:prstGeom>
          <a:noFill/>
          <a:ln/>
        </p:spPr>
        <p:txBody>
          <a:bodyPr wrap="square" lIns="0" tIns="0" rIns="0" bIns="0" rtlCol="0" anchor="t"/>
          <a:lstStyle/>
          <a:p>
            <a:pPr algn="l" indent="0" marL="0">
              <a:lnSpc>
                <a:spcPts val="2850"/>
              </a:lnSpc>
              <a:buNone/>
            </a:pPr>
            <a:r>
              <a:rPr lang="en-US" sz="1750" dirty="0">
                <a:solidFill>
                  <a:srgbClr val="C9C2C0"/>
                </a:solidFill>
                <a:latin typeface="Gelasio" pitchFamily="34" charset="0"/>
                <a:ea typeface="Gelasio" pitchFamily="34" charset="-122"/>
                <a:cs typeface="Gelasio" pitchFamily="34" charset="-120"/>
              </a:rPr>
              <a:t>Comprehends context and nuances in human communication</a:t>
            </a:r>
            <a:endParaRPr lang="en-US" sz="1750" dirty="0"/>
          </a:p>
        </p:txBody>
      </p:sp>
      <p:sp>
        <p:nvSpPr>
          <p:cNvPr id="6" name="Shape 4"/>
          <p:cNvSpPr/>
          <p:nvPr/>
        </p:nvSpPr>
        <p:spPr>
          <a:xfrm>
            <a:off x="4111109" y="2245043"/>
            <a:ext cx="3090624" cy="2387084"/>
          </a:xfrm>
          <a:prstGeom prst="roundRect">
            <a:avLst>
              <a:gd name="adj" fmla="val 1425"/>
            </a:avLst>
          </a:prstGeom>
          <a:solidFill>
            <a:srgbClr val="373433"/>
          </a:solidFill>
          <a:ln/>
        </p:spPr>
      </p:sp>
      <p:sp>
        <p:nvSpPr>
          <p:cNvPr id="7" name="Text 5"/>
          <p:cNvSpPr/>
          <p:nvPr/>
        </p:nvSpPr>
        <p:spPr>
          <a:xfrm>
            <a:off x="4337923" y="2471857"/>
            <a:ext cx="2636996" cy="354330"/>
          </a:xfrm>
          <a:prstGeom prst="rect">
            <a:avLst/>
          </a:prstGeom>
          <a:noFill/>
          <a:ln/>
        </p:spPr>
        <p:txBody>
          <a:bodyPr wrap="none" lIns="0" tIns="0" rIns="0" bIns="0" rtlCol="0" anchor="t"/>
          <a:lstStyle/>
          <a:p>
            <a:pPr algn="l" indent="0" marL="0">
              <a:lnSpc>
                <a:spcPts val="2750"/>
              </a:lnSpc>
              <a:buNone/>
            </a:pPr>
            <a:r>
              <a:rPr lang="en-US" sz="2200" dirty="0">
                <a:solidFill>
                  <a:srgbClr val="C9C2C0"/>
                </a:solidFill>
                <a:latin typeface="Gelasio" pitchFamily="34" charset="0"/>
                <a:ea typeface="Gelasio" pitchFamily="34" charset="-122"/>
                <a:cs typeface="Gelasio" pitchFamily="34" charset="-120"/>
              </a:rPr>
              <a:t>Text Generation</a:t>
            </a:r>
            <a:endParaRPr lang="en-US" sz="2200" dirty="0"/>
          </a:p>
        </p:txBody>
      </p:sp>
      <p:sp>
        <p:nvSpPr>
          <p:cNvPr id="8" name="Text 6"/>
          <p:cNvSpPr/>
          <p:nvPr/>
        </p:nvSpPr>
        <p:spPr>
          <a:xfrm>
            <a:off x="4337923" y="2962275"/>
            <a:ext cx="2636996" cy="1088708"/>
          </a:xfrm>
          <a:prstGeom prst="rect">
            <a:avLst/>
          </a:prstGeom>
          <a:noFill/>
          <a:ln/>
        </p:spPr>
        <p:txBody>
          <a:bodyPr wrap="square" lIns="0" tIns="0" rIns="0" bIns="0" rtlCol="0" anchor="t"/>
          <a:lstStyle/>
          <a:p>
            <a:pPr algn="l" indent="0" marL="0">
              <a:lnSpc>
                <a:spcPts val="2850"/>
              </a:lnSpc>
              <a:buNone/>
            </a:pPr>
            <a:r>
              <a:rPr lang="en-US" sz="1750" dirty="0">
                <a:solidFill>
                  <a:srgbClr val="C9C2C0"/>
                </a:solidFill>
                <a:latin typeface="Gelasio" pitchFamily="34" charset="0"/>
                <a:ea typeface="Gelasio" pitchFamily="34" charset="-122"/>
                <a:cs typeface="Gelasio" pitchFamily="34" charset="-120"/>
              </a:rPr>
              <a:t>Creates human-like content across various formats and styles</a:t>
            </a:r>
            <a:endParaRPr lang="en-US" sz="1750" dirty="0"/>
          </a:p>
        </p:txBody>
      </p:sp>
      <p:sp>
        <p:nvSpPr>
          <p:cNvPr id="9" name="Shape 7"/>
          <p:cNvSpPr/>
          <p:nvPr/>
        </p:nvSpPr>
        <p:spPr>
          <a:xfrm>
            <a:off x="7428548" y="2245043"/>
            <a:ext cx="3090624" cy="2387084"/>
          </a:xfrm>
          <a:prstGeom prst="roundRect">
            <a:avLst>
              <a:gd name="adj" fmla="val 1425"/>
            </a:avLst>
          </a:prstGeom>
          <a:solidFill>
            <a:srgbClr val="373433"/>
          </a:solidFill>
          <a:ln/>
        </p:spPr>
      </p:sp>
      <p:sp>
        <p:nvSpPr>
          <p:cNvPr id="10" name="Text 8"/>
          <p:cNvSpPr/>
          <p:nvPr/>
        </p:nvSpPr>
        <p:spPr>
          <a:xfrm>
            <a:off x="7655362" y="2471857"/>
            <a:ext cx="2636996" cy="354330"/>
          </a:xfrm>
          <a:prstGeom prst="rect">
            <a:avLst/>
          </a:prstGeom>
          <a:noFill/>
          <a:ln/>
        </p:spPr>
        <p:txBody>
          <a:bodyPr wrap="none" lIns="0" tIns="0" rIns="0" bIns="0" rtlCol="0" anchor="t"/>
          <a:lstStyle/>
          <a:p>
            <a:pPr algn="l" indent="0" marL="0">
              <a:lnSpc>
                <a:spcPts val="2750"/>
              </a:lnSpc>
              <a:buNone/>
            </a:pPr>
            <a:r>
              <a:rPr lang="en-US" sz="2200" dirty="0">
                <a:solidFill>
                  <a:srgbClr val="C9C2C0"/>
                </a:solidFill>
                <a:latin typeface="Gelasio" pitchFamily="34" charset="0"/>
                <a:ea typeface="Gelasio" pitchFamily="34" charset="-122"/>
                <a:cs typeface="Gelasio" pitchFamily="34" charset="-120"/>
              </a:rPr>
              <a:t>Question Answering</a:t>
            </a:r>
            <a:endParaRPr lang="en-US" sz="2200" dirty="0"/>
          </a:p>
        </p:txBody>
      </p:sp>
      <p:sp>
        <p:nvSpPr>
          <p:cNvPr id="11" name="Text 9"/>
          <p:cNvSpPr/>
          <p:nvPr/>
        </p:nvSpPr>
        <p:spPr>
          <a:xfrm>
            <a:off x="7655362" y="2962275"/>
            <a:ext cx="2636996" cy="1088708"/>
          </a:xfrm>
          <a:prstGeom prst="rect">
            <a:avLst/>
          </a:prstGeom>
          <a:noFill/>
          <a:ln/>
        </p:spPr>
        <p:txBody>
          <a:bodyPr wrap="square" lIns="0" tIns="0" rIns="0" bIns="0" rtlCol="0" anchor="t"/>
          <a:lstStyle/>
          <a:p>
            <a:pPr algn="l" indent="0" marL="0">
              <a:lnSpc>
                <a:spcPts val="2850"/>
              </a:lnSpc>
              <a:buNone/>
            </a:pPr>
            <a:r>
              <a:rPr lang="en-US" sz="1750" dirty="0">
                <a:solidFill>
                  <a:srgbClr val="C9C2C0"/>
                </a:solidFill>
                <a:latin typeface="Gelasio" pitchFamily="34" charset="0"/>
                <a:ea typeface="Gelasio" pitchFamily="34" charset="-122"/>
                <a:cs typeface="Gelasio" pitchFamily="34" charset="-120"/>
              </a:rPr>
              <a:t>Provides accurate, contextual responses to complex queries</a:t>
            </a:r>
            <a:endParaRPr lang="en-US" sz="1750" dirty="0"/>
          </a:p>
        </p:txBody>
      </p:sp>
      <p:sp>
        <p:nvSpPr>
          <p:cNvPr id="12" name="Shape 10"/>
          <p:cNvSpPr/>
          <p:nvPr/>
        </p:nvSpPr>
        <p:spPr>
          <a:xfrm>
            <a:off x="10745986" y="2245043"/>
            <a:ext cx="3090624" cy="2387084"/>
          </a:xfrm>
          <a:prstGeom prst="roundRect">
            <a:avLst>
              <a:gd name="adj" fmla="val 1425"/>
            </a:avLst>
          </a:prstGeom>
          <a:solidFill>
            <a:srgbClr val="373433"/>
          </a:solidFill>
          <a:ln/>
        </p:spPr>
      </p:sp>
      <p:sp>
        <p:nvSpPr>
          <p:cNvPr id="13" name="Text 11"/>
          <p:cNvSpPr/>
          <p:nvPr/>
        </p:nvSpPr>
        <p:spPr>
          <a:xfrm>
            <a:off x="10972800" y="2471857"/>
            <a:ext cx="2636996" cy="708660"/>
          </a:xfrm>
          <a:prstGeom prst="rect">
            <a:avLst/>
          </a:prstGeom>
          <a:noFill/>
          <a:ln/>
        </p:spPr>
        <p:txBody>
          <a:bodyPr wrap="square" lIns="0" tIns="0" rIns="0" bIns="0" rtlCol="0" anchor="t"/>
          <a:lstStyle/>
          <a:p>
            <a:pPr algn="l" indent="0" marL="0">
              <a:lnSpc>
                <a:spcPts val="2750"/>
              </a:lnSpc>
              <a:buNone/>
            </a:pPr>
            <a:r>
              <a:rPr lang="en-US" sz="2200" dirty="0">
                <a:solidFill>
                  <a:srgbClr val="C9C2C0"/>
                </a:solidFill>
                <a:latin typeface="Gelasio" pitchFamily="34" charset="0"/>
                <a:ea typeface="Gelasio" pitchFamily="34" charset="-122"/>
                <a:cs typeface="Gelasio" pitchFamily="34" charset="-120"/>
              </a:rPr>
              <a:t>Content Summarization</a:t>
            </a:r>
            <a:endParaRPr lang="en-US" sz="2200" dirty="0"/>
          </a:p>
        </p:txBody>
      </p:sp>
      <p:sp>
        <p:nvSpPr>
          <p:cNvPr id="14" name="Text 12"/>
          <p:cNvSpPr/>
          <p:nvPr/>
        </p:nvSpPr>
        <p:spPr>
          <a:xfrm>
            <a:off x="10972800" y="3316605"/>
            <a:ext cx="2636996" cy="1088708"/>
          </a:xfrm>
          <a:prstGeom prst="rect">
            <a:avLst/>
          </a:prstGeom>
          <a:noFill/>
          <a:ln/>
        </p:spPr>
        <p:txBody>
          <a:bodyPr wrap="square" lIns="0" tIns="0" rIns="0" bIns="0" rtlCol="0" anchor="t"/>
          <a:lstStyle/>
          <a:p>
            <a:pPr algn="l" indent="0" marL="0">
              <a:lnSpc>
                <a:spcPts val="2850"/>
              </a:lnSpc>
              <a:buNone/>
            </a:pPr>
            <a:r>
              <a:rPr lang="en-US" sz="1750" dirty="0">
                <a:solidFill>
                  <a:srgbClr val="C9C2C0"/>
                </a:solidFill>
                <a:latin typeface="Gelasio" pitchFamily="34" charset="0"/>
                <a:ea typeface="Gelasio" pitchFamily="34" charset="-122"/>
                <a:cs typeface="Gelasio" pitchFamily="34" charset="-120"/>
              </a:rPr>
              <a:t>Distills long documents into concise, meaningful summaries</a:t>
            </a:r>
            <a:endParaRPr lang="en-US" sz="1750" dirty="0"/>
          </a:p>
        </p:txBody>
      </p:sp>
      <p:sp>
        <p:nvSpPr>
          <p:cNvPr id="15" name="Shape 13"/>
          <p:cNvSpPr/>
          <p:nvPr/>
        </p:nvSpPr>
        <p:spPr>
          <a:xfrm>
            <a:off x="793790" y="4858941"/>
            <a:ext cx="6407944" cy="1669852"/>
          </a:xfrm>
          <a:prstGeom prst="roundRect">
            <a:avLst>
              <a:gd name="adj" fmla="val 2038"/>
            </a:avLst>
          </a:prstGeom>
          <a:solidFill>
            <a:srgbClr val="373433"/>
          </a:solidFill>
          <a:ln/>
        </p:spPr>
      </p:sp>
      <p:sp>
        <p:nvSpPr>
          <p:cNvPr id="16" name="Text 14"/>
          <p:cNvSpPr/>
          <p:nvPr/>
        </p:nvSpPr>
        <p:spPr>
          <a:xfrm>
            <a:off x="1020604" y="508575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9C2C0"/>
                </a:solidFill>
                <a:latin typeface="Gelasio" pitchFamily="34" charset="0"/>
                <a:ea typeface="Gelasio" pitchFamily="34" charset="-122"/>
                <a:cs typeface="Gelasio" pitchFamily="34" charset="-120"/>
              </a:rPr>
              <a:t>Language Translation</a:t>
            </a:r>
            <a:endParaRPr lang="en-US" sz="2200" dirty="0"/>
          </a:p>
        </p:txBody>
      </p:sp>
      <p:sp>
        <p:nvSpPr>
          <p:cNvPr id="17" name="Text 15"/>
          <p:cNvSpPr/>
          <p:nvPr/>
        </p:nvSpPr>
        <p:spPr>
          <a:xfrm>
            <a:off x="1020604" y="5576173"/>
            <a:ext cx="5954316" cy="362903"/>
          </a:xfrm>
          <a:prstGeom prst="rect">
            <a:avLst/>
          </a:prstGeom>
          <a:noFill/>
          <a:ln/>
        </p:spPr>
        <p:txBody>
          <a:bodyPr wrap="none" lIns="0" tIns="0" rIns="0" bIns="0" rtlCol="0" anchor="t"/>
          <a:lstStyle/>
          <a:p>
            <a:pPr algn="l" indent="0" marL="0">
              <a:lnSpc>
                <a:spcPts val="2850"/>
              </a:lnSpc>
              <a:buNone/>
            </a:pPr>
            <a:r>
              <a:rPr lang="en-US" sz="1750" dirty="0">
                <a:solidFill>
                  <a:srgbClr val="C9C2C0"/>
                </a:solidFill>
                <a:latin typeface="Gelasio" pitchFamily="34" charset="0"/>
                <a:ea typeface="Gelasio" pitchFamily="34" charset="-122"/>
                <a:cs typeface="Gelasio" pitchFamily="34" charset="-120"/>
              </a:rPr>
              <a:t>Converts text between languages while preserving meaning</a:t>
            </a:r>
            <a:endParaRPr lang="en-US" sz="1750" dirty="0"/>
          </a:p>
        </p:txBody>
      </p:sp>
      <p:sp>
        <p:nvSpPr>
          <p:cNvPr id="18" name="Shape 16"/>
          <p:cNvSpPr/>
          <p:nvPr/>
        </p:nvSpPr>
        <p:spPr>
          <a:xfrm>
            <a:off x="7428548" y="4858941"/>
            <a:ext cx="6408063" cy="1669852"/>
          </a:xfrm>
          <a:prstGeom prst="roundRect">
            <a:avLst>
              <a:gd name="adj" fmla="val 2038"/>
            </a:avLst>
          </a:prstGeom>
          <a:solidFill>
            <a:srgbClr val="373433"/>
          </a:solidFill>
          <a:ln/>
        </p:spPr>
      </p:sp>
      <p:sp>
        <p:nvSpPr>
          <p:cNvPr id="19" name="Text 17"/>
          <p:cNvSpPr/>
          <p:nvPr/>
        </p:nvSpPr>
        <p:spPr>
          <a:xfrm>
            <a:off x="7655362" y="508575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9C2C0"/>
                </a:solidFill>
                <a:latin typeface="Gelasio" pitchFamily="34" charset="0"/>
                <a:ea typeface="Gelasio" pitchFamily="34" charset="-122"/>
                <a:cs typeface="Gelasio" pitchFamily="34" charset="-120"/>
              </a:rPr>
              <a:t>Text Completion</a:t>
            </a:r>
            <a:endParaRPr lang="en-US" sz="2200" dirty="0"/>
          </a:p>
        </p:txBody>
      </p:sp>
      <p:sp>
        <p:nvSpPr>
          <p:cNvPr id="20" name="Text 18"/>
          <p:cNvSpPr/>
          <p:nvPr/>
        </p:nvSpPr>
        <p:spPr>
          <a:xfrm>
            <a:off x="7655362" y="5576173"/>
            <a:ext cx="5954435" cy="725805"/>
          </a:xfrm>
          <a:prstGeom prst="rect">
            <a:avLst/>
          </a:prstGeom>
          <a:noFill/>
          <a:ln/>
        </p:spPr>
        <p:txBody>
          <a:bodyPr wrap="square" lIns="0" tIns="0" rIns="0" bIns="0" rtlCol="0" anchor="t"/>
          <a:lstStyle/>
          <a:p>
            <a:pPr algn="l" indent="0" marL="0">
              <a:lnSpc>
                <a:spcPts val="2850"/>
              </a:lnSpc>
              <a:buNone/>
            </a:pPr>
            <a:r>
              <a:rPr lang="en-US" sz="1750" dirty="0">
                <a:solidFill>
                  <a:srgbClr val="C9C2C0"/>
                </a:solidFill>
                <a:latin typeface="Gelasio" pitchFamily="34" charset="0"/>
                <a:ea typeface="Gelasio" pitchFamily="34" charset="-122"/>
                <a:cs typeface="Gelasio" pitchFamily="34" charset="-120"/>
              </a:rPr>
              <a:t>Intelligently continues sentences and paragraphs based on context</a:t>
            </a:r>
            <a:endParaRPr lang="en-US" sz="1750" dirty="0"/>
          </a:p>
        </p:txBody>
      </p:sp>
      <p:sp>
        <p:nvSpPr>
          <p:cNvPr id="21" name="Text 19"/>
          <p:cNvSpPr/>
          <p:nvPr/>
        </p:nvSpPr>
        <p:spPr>
          <a:xfrm>
            <a:off x="793790" y="6783943"/>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C9C2C0"/>
                </a:solidFill>
                <a:latin typeface="Gelasio" pitchFamily="34" charset="0"/>
                <a:ea typeface="Gelasio" pitchFamily="34" charset="-122"/>
                <a:cs typeface="Gelasio" pitchFamily="34" charset="-120"/>
              </a:rPr>
              <a:t>LLMs adapt to different writing styles and respond intelligently based on the context of the conversation.</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507927"/>
            <a:ext cx="5912287" cy="708779"/>
          </a:xfrm>
          <a:prstGeom prst="rect">
            <a:avLst/>
          </a:prstGeom>
          <a:noFill/>
          <a:ln/>
        </p:spPr>
        <p:txBody>
          <a:bodyPr wrap="none" lIns="0" tIns="0" rIns="0" bIns="0" rtlCol="0" anchor="t"/>
          <a:lstStyle/>
          <a:p>
            <a:pPr algn="l" indent="0" marL="0">
              <a:lnSpc>
                <a:spcPts val="5550"/>
              </a:lnSpc>
              <a:buNone/>
            </a:pPr>
            <a:r>
              <a:rPr lang="en-US" sz="4450" dirty="0">
                <a:solidFill>
                  <a:srgbClr val="D8B6A4"/>
                </a:solidFill>
                <a:latin typeface="Gelasio" pitchFamily="34" charset="0"/>
                <a:ea typeface="Gelasio" pitchFamily="34" charset="-122"/>
                <a:cs typeface="Gelasio" pitchFamily="34" charset="-120"/>
              </a:rPr>
              <a:t>Popular LLM Examples</a:t>
            </a:r>
            <a:endParaRPr lang="en-US" sz="4450" dirty="0"/>
          </a:p>
        </p:txBody>
      </p:sp>
      <p:sp>
        <p:nvSpPr>
          <p:cNvPr id="3" name="Shape 1"/>
          <p:cNvSpPr/>
          <p:nvPr/>
        </p:nvSpPr>
        <p:spPr>
          <a:xfrm>
            <a:off x="793790" y="2670334"/>
            <a:ext cx="3090505" cy="2456617"/>
          </a:xfrm>
          <a:prstGeom prst="roundRect">
            <a:avLst>
              <a:gd name="adj" fmla="val 1385"/>
            </a:avLst>
          </a:prstGeom>
          <a:solidFill>
            <a:srgbClr val="464342"/>
          </a:solidFill>
          <a:ln w="30480">
            <a:solidFill>
              <a:srgbClr val="504D4C"/>
            </a:solidFill>
            <a:prstDash val="solid"/>
          </a:ln>
        </p:spPr>
      </p:sp>
      <p:sp>
        <p:nvSpPr>
          <p:cNvPr id="4" name="Text 2"/>
          <p:cNvSpPr/>
          <p:nvPr/>
        </p:nvSpPr>
        <p:spPr>
          <a:xfrm>
            <a:off x="1051084" y="2927628"/>
            <a:ext cx="2575917" cy="354330"/>
          </a:xfrm>
          <a:prstGeom prst="rect">
            <a:avLst/>
          </a:prstGeom>
          <a:noFill/>
          <a:ln/>
        </p:spPr>
        <p:txBody>
          <a:bodyPr wrap="none" lIns="0" tIns="0" rIns="0" bIns="0" rtlCol="0" anchor="t"/>
          <a:lstStyle/>
          <a:p>
            <a:pPr algn="l" indent="0" marL="0">
              <a:lnSpc>
                <a:spcPts val="2750"/>
              </a:lnSpc>
              <a:buNone/>
            </a:pPr>
            <a:r>
              <a:rPr lang="en-US" sz="2200" dirty="0">
                <a:solidFill>
                  <a:srgbClr val="C9C2C0"/>
                </a:solidFill>
                <a:latin typeface="Gelasio" pitchFamily="34" charset="0"/>
                <a:ea typeface="Gelasio" pitchFamily="34" charset="-122"/>
                <a:cs typeface="Gelasio" pitchFamily="34" charset="-120"/>
              </a:rPr>
              <a:t>GPT</a:t>
            </a:r>
            <a:endParaRPr lang="en-US" sz="2200" dirty="0"/>
          </a:p>
        </p:txBody>
      </p:sp>
      <p:sp>
        <p:nvSpPr>
          <p:cNvPr id="5" name="Text 3"/>
          <p:cNvSpPr/>
          <p:nvPr/>
        </p:nvSpPr>
        <p:spPr>
          <a:xfrm>
            <a:off x="1051084" y="3418046"/>
            <a:ext cx="2575917" cy="1451610"/>
          </a:xfrm>
          <a:prstGeom prst="rect">
            <a:avLst/>
          </a:prstGeom>
          <a:noFill/>
          <a:ln/>
        </p:spPr>
        <p:txBody>
          <a:bodyPr wrap="square" lIns="0" tIns="0" rIns="0" bIns="0" rtlCol="0" anchor="t"/>
          <a:lstStyle/>
          <a:p>
            <a:pPr algn="l" indent="0" marL="0">
              <a:lnSpc>
                <a:spcPts val="2850"/>
              </a:lnSpc>
              <a:buNone/>
            </a:pPr>
            <a:r>
              <a:rPr lang="en-US" sz="1750" dirty="0">
                <a:solidFill>
                  <a:srgbClr val="C9C2C0"/>
                </a:solidFill>
                <a:latin typeface="Gelasio" pitchFamily="34" charset="0"/>
                <a:ea typeface="Gelasio" pitchFamily="34" charset="-122"/>
                <a:cs typeface="Gelasio" pitchFamily="34" charset="-120"/>
              </a:rPr>
              <a:t>Generative Pre-trained Transformer – known for versatile text generation and conversation</a:t>
            </a:r>
            <a:endParaRPr lang="en-US" sz="1750" dirty="0"/>
          </a:p>
        </p:txBody>
      </p:sp>
      <p:sp>
        <p:nvSpPr>
          <p:cNvPr id="6" name="Shape 4"/>
          <p:cNvSpPr/>
          <p:nvPr/>
        </p:nvSpPr>
        <p:spPr>
          <a:xfrm>
            <a:off x="4111109" y="2670334"/>
            <a:ext cx="3090624" cy="2456617"/>
          </a:xfrm>
          <a:prstGeom prst="roundRect">
            <a:avLst>
              <a:gd name="adj" fmla="val 1385"/>
            </a:avLst>
          </a:prstGeom>
          <a:solidFill>
            <a:srgbClr val="464342"/>
          </a:solidFill>
          <a:ln w="30480">
            <a:solidFill>
              <a:srgbClr val="504D4C"/>
            </a:solidFill>
            <a:prstDash val="solid"/>
          </a:ln>
        </p:spPr>
      </p:sp>
      <p:sp>
        <p:nvSpPr>
          <p:cNvPr id="7" name="Text 5"/>
          <p:cNvSpPr/>
          <p:nvPr/>
        </p:nvSpPr>
        <p:spPr>
          <a:xfrm>
            <a:off x="4368403" y="2927628"/>
            <a:ext cx="2576036" cy="354330"/>
          </a:xfrm>
          <a:prstGeom prst="rect">
            <a:avLst/>
          </a:prstGeom>
          <a:noFill/>
          <a:ln/>
        </p:spPr>
        <p:txBody>
          <a:bodyPr wrap="none" lIns="0" tIns="0" rIns="0" bIns="0" rtlCol="0" anchor="t"/>
          <a:lstStyle/>
          <a:p>
            <a:pPr algn="l" indent="0" marL="0">
              <a:lnSpc>
                <a:spcPts val="2750"/>
              </a:lnSpc>
              <a:buNone/>
            </a:pPr>
            <a:r>
              <a:rPr lang="en-US" sz="2200" dirty="0">
                <a:solidFill>
                  <a:srgbClr val="C9C2C0"/>
                </a:solidFill>
                <a:latin typeface="Gelasio" pitchFamily="34" charset="0"/>
                <a:ea typeface="Gelasio" pitchFamily="34" charset="-122"/>
                <a:cs typeface="Gelasio" pitchFamily="34" charset="-120"/>
              </a:rPr>
              <a:t>BERT</a:t>
            </a:r>
            <a:endParaRPr lang="en-US" sz="2200" dirty="0"/>
          </a:p>
        </p:txBody>
      </p:sp>
      <p:sp>
        <p:nvSpPr>
          <p:cNvPr id="8" name="Text 6"/>
          <p:cNvSpPr/>
          <p:nvPr/>
        </p:nvSpPr>
        <p:spPr>
          <a:xfrm>
            <a:off x="4368403" y="3418046"/>
            <a:ext cx="2576036" cy="1451610"/>
          </a:xfrm>
          <a:prstGeom prst="rect">
            <a:avLst/>
          </a:prstGeom>
          <a:noFill/>
          <a:ln/>
        </p:spPr>
        <p:txBody>
          <a:bodyPr wrap="square" lIns="0" tIns="0" rIns="0" bIns="0" rtlCol="0" anchor="t"/>
          <a:lstStyle/>
          <a:p>
            <a:pPr algn="l" indent="0" marL="0">
              <a:lnSpc>
                <a:spcPts val="2850"/>
              </a:lnSpc>
              <a:buNone/>
            </a:pPr>
            <a:r>
              <a:rPr lang="en-US" sz="1750" dirty="0">
                <a:solidFill>
                  <a:srgbClr val="C9C2C0"/>
                </a:solidFill>
                <a:latin typeface="Gelasio" pitchFamily="34" charset="0"/>
                <a:ea typeface="Gelasio" pitchFamily="34" charset="-122"/>
                <a:cs typeface="Gelasio" pitchFamily="34" charset="-120"/>
              </a:rPr>
              <a:t>Bidirectional Encoder – excels at understanding context in search and language tasks</a:t>
            </a:r>
            <a:endParaRPr lang="en-US" sz="1750" dirty="0"/>
          </a:p>
        </p:txBody>
      </p:sp>
      <p:sp>
        <p:nvSpPr>
          <p:cNvPr id="9" name="Shape 7"/>
          <p:cNvSpPr/>
          <p:nvPr/>
        </p:nvSpPr>
        <p:spPr>
          <a:xfrm>
            <a:off x="7428548" y="2670334"/>
            <a:ext cx="3090624" cy="2456617"/>
          </a:xfrm>
          <a:prstGeom prst="roundRect">
            <a:avLst>
              <a:gd name="adj" fmla="val 1385"/>
            </a:avLst>
          </a:prstGeom>
          <a:solidFill>
            <a:srgbClr val="464342"/>
          </a:solidFill>
          <a:ln w="30480">
            <a:solidFill>
              <a:srgbClr val="504D4C"/>
            </a:solidFill>
            <a:prstDash val="solid"/>
          </a:ln>
        </p:spPr>
      </p:sp>
      <p:sp>
        <p:nvSpPr>
          <p:cNvPr id="10" name="Text 8"/>
          <p:cNvSpPr/>
          <p:nvPr/>
        </p:nvSpPr>
        <p:spPr>
          <a:xfrm>
            <a:off x="7685842" y="2927628"/>
            <a:ext cx="2576036" cy="354330"/>
          </a:xfrm>
          <a:prstGeom prst="rect">
            <a:avLst/>
          </a:prstGeom>
          <a:noFill/>
          <a:ln/>
        </p:spPr>
        <p:txBody>
          <a:bodyPr wrap="none" lIns="0" tIns="0" rIns="0" bIns="0" rtlCol="0" anchor="t"/>
          <a:lstStyle/>
          <a:p>
            <a:pPr algn="l" indent="0" marL="0">
              <a:lnSpc>
                <a:spcPts val="2750"/>
              </a:lnSpc>
              <a:buNone/>
            </a:pPr>
            <a:r>
              <a:rPr lang="en-US" sz="2200" dirty="0">
                <a:solidFill>
                  <a:srgbClr val="C9C2C0"/>
                </a:solidFill>
                <a:latin typeface="Gelasio" pitchFamily="34" charset="0"/>
                <a:ea typeface="Gelasio" pitchFamily="34" charset="-122"/>
                <a:cs typeface="Gelasio" pitchFamily="34" charset="-120"/>
              </a:rPr>
              <a:t>Claude</a:t>
            </a:r>
            <a:endParaRPr lang="en-US" sz="2200" dirty="0"/>
          </a:p>
        </p:txBody>
      </p:sp>
      <p:sp>
        <p:nvSpPr>
          <p:cNvPr id="11" name="Text 9"/>
          <p:cNvSpPr/>
          <p:nvPr/>
        </p:nvSpPr>
        <p:spPr>
          <a:xfrm>
            <a:off x="7685842" y="3418046"/>
            <a:ext cx="2576036" cy="1088708"/>
          </a:xfrm>
          <a:prstGeom prst="rect">
            <a:avLst/>
          </a:prstGeom>
          <a:noFill/>
          <a:ln/>
        </p:spPr>
        <p:txBody>
          <a:bodyPr wrap="square" lIns="0" tIns="0" rIns="0" bIns="0" rtlCol="0" anchor="t"/>
          <a:lstStyle/>
          <a:p>
            <a:pPr algn="l" indent="0" marL="0">
              <a:lnSpc>
                <a:spcPts val="2850"/>
              </a:lnSpc>
              <a:buNone/>
            </a:pPr>
            <a:r>
              <a:rPr lang="en-US" sz="1750" dirty="0">
                <a:solidFill>
                  <a:srgbClr val="C9C2C0"/>
                </a:solidFill>
                <a:latin typeface="Gelasio" pitchFamily="34" charset="0"/>
                <a:ea typeface="Gelasio" pitchFamily="34" charset="-122"/>
                <a:cs typeface="Gelasio" pitchFamily="34" charset="-120"/>
              </a:rPr>
              <a:t>Focused on safety and helpful, harmless, and honest interactions</a:t>
            </a:r>
            <a:endParaRPr lang="en-US" sz="1750" dirty="0"/>
          </a:p>
        </p:txBody>
      </p:sp>
      <p:sp>
        <p:nvSpPr>
          <p:cNvPr id="12" name="Shape 10"/>
          <p:cNvSpPr/>
          <p:nvPr/>
        </p:nvSpPr>
        <p:spPr>
          <a:xfrm>
            <a:off x="10745986" y="2670334"/>
            <a:ext cx="3090624" cy="2456617"/>
          </a:xfrm>
          <a:prstGeom prst="roundRect">
            <a:avLst>
              <a:gd name="adj" fmla="val 1385"/>
            </a:avLst>
          </a:prstGeom>
          <a:solidFill>
            <a:srgbClr val="464342"/>
          </a:solidFill>
          <a:ln w="30480">
            <a:solidFill>
              <a:srgbClr val="504D4C"/>
            </a:solidFill>
            <a:prstDash val="solid"/>
          </a:ln>
        </p:spPr>
      </p:sp>
      <p:sp>
        <p:nvSpPr>
          <p:cNvPr id="13" name="Text 11"/>
          <p:cNvSpPr/>
          <p:nvPr/>
        </p:nvSpPr>
        <p:spPr>
          <a:xfrm>
            <a:off x="11003280" y="2927628"/>
            <a:ext cx="2576036" cy="354330"/>
          </a:xfrm>
          <a:prstGeom prst="rect">
            <a:avLst/>
          </a:prstGeom>
          <a:noFill/>
          <a:ln/>
        </p:spPr>
        <p:txBody>
          <a:bodyPr wrap="none" lIns="0" tIns="0" rIns="0" bIns="0" rtlCol="0" anchor="t"/>
          <a:lstStyle/>
          <a:p>
            <a:pPr algn="l" indent="0" marL="0">
              <a:lnSpc>
                <a:spcPts val="2750"/>
              </a:lnSpc>
              <a:buNone/>
            </a:pPr>
            <a:r>
              <a:rPr lang="en-US" sz="2200" dirty="0">
                <a:solidFill>
                  <a:srgbClr val="C9C2C0"/>
                </a:solidFill>
                <a:latin typeface="Gelasio" pitchFamily="34" charset="0"/>
                <a:ea typeface="Gelasio" pitchFamily="34" charset="-122"/>
                <a:cs typeface="Gelasio" pitchFamily="34" charset="-120"/>
              </a:rPr>
              <a:t>PaLM</a:t>
            </a:r>
            <a:endParaRPr lang="en-US" sz="2200" dirty="0"/>
          </a:p>
        </p:txBody>
      </p:sp>
      <p:sp>
        <p:nvSpPr>
          <p:cNvPr id="14" name="Text 12"/>
          <p:cNvSpPr/>
          <p:nvPr/>
        </p:nvSpPr>
        <p:spPr>
          <a:xfrm>
            <a:off x="11003280" y="3418046"/>
            <a:ext cx="2576036" cy="1451610"/>
          </a:xfrm>
          <a:prstGeom prst="rect">
            <a:avLst/>
          </a:prstGeom>
          <a:noFill/>
          <a:ln/>
        </p:spPr>
        <p:txBody>
          <a:bodyPr wrap="square" lIns="0" tIns="0" rIns="0" bIns="0" rtlCol="0" anchor="t"/>
          <a:lstStyle/>
          <a:p>
            <a:pPr algn="l" indent="0" marL="0">
              <a:lnSpc>
                <a:spcPts val="2850"/>
              </a:lnSpc>
              <a:buNone/>
            </a:pPr>
            <a:r>
              <a:rPr lang="en-US" sz="1750" dirty="0">
                <a:solidFill>
                  <a:srgbClr val="C9C2C0"/>
                </a:solidFill>
                <a:latin typeface="Gelasio" pitchFamily="34" charset="0"/>
                <a:ea typeface="Gelasio" pitchFamily="34" charset="-122"/>
                <a:cs typeface="Gelasio" pitchFamily="34" charset="-120"/>
              </a:rPr>
              <a:t>Pathways Language Model – Google's advanced reasoning and multi-task AI</a:t>
            </a:r>
            <a:endParaRPr lang="en-US" sz="1750" dirty="0"/>
          </a:p>
        </p:txBody>
      </p:sp>
      <p:sp>
        <p:nvSpPr>
          <p:cNvPr id="15" name="Shape 13"/>
          <p:cNvSpPr/>
          <p:nvPr/>
        </p:nvSpPr>
        <p:spPr>
          <a:xfrm>
            <a:off x="793790" y="5353764"/>
            <a:ext cx="13042821" cy="1367909"/>
          </a:xfrm>
          <a:prstGeom prst="roundRect">
            <a:avLst>
              <a:gd name="adj" fmla="val 2487"/>
            </a:avLst>
          </a:prstGeom>
          <a:solidFill>
            <a:srgbClr val="464342"/>
          </a:solidFill>
          <a:ln w="30480">
            <a:solidFill>
              <a:srgbClr val="504D4C"/>
            </a:solidFill>
            <a:prstDash val="solid"/>
          </a:ln>
        </p:spPr>
      </p:sp>
      <p:sp>
        <p:nvSpPr>
          <p:cNvPr id="16" name="Text 14"/>
          <p:cNvSpPr/>
          <p:nvPr/>
        </p:nvSpPr>
        <p:spPr>
          <a:xfrm>
            <a:off x="1051084" y="561105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9C2C0"/>
                </a:solidFill>
                <a:latin typeface="Gelasio" pitchFamily="34" charset="0"/>
                <a:ea typeface="Gelasio" pitchFamily="34" charset="-122"/>
                <a:cs typeface="Gelasio" pitchFamily="34" charset="-120"/>
              </a:rPr>
              <a:t>LLaMA</a:t>
            </a:r>
            <a:endParaRPr lang="en-US" sz="2200" dirty="0"/>
          </a:p>
        </p:txBody>
      </p:sp>
      <p:sp>
        <p:nvSpPr>
          <p:cNvPr id="17" name="Text 15"/>
          <p:cNvSpPr/>
          <p:nvPr/>
        </p:nvSpPr>
        <p:spPr>
          <a:xfrm>
            <a:off x="1051084" y="6101477"/>
            <a:ext cx="12528233" cy="362903"/>
          </a:xfrm>
          <a:prstGeom prst="rect">
            <a:avLst/>
          </a:prstGeom>
          <a:noFill/>
          <a:ln/>
        </p:spPr>
        <p:txBody>
          <a:bodyPr wrap="none" lIns="0" tIns="0" rIns="0" bIns="0" rtlCol="0" anchor="t"/>
          <a:lstStyle/>
          <a:p>
            <a:pPr algn="l" indent="0" marL="0">
              <a:lnSpc>
                <a:spcPts val="2850"/>
              </a:lnSpc>
              <a:buNone/>
            </a:pPr>
            <a:r>
              <a:rPr lang="en-US" sz="1750" dirty="0">
                <a:solidFill>
                  <a:srgbClr val="C9C2C0"/>
                </a:solidFill>
                <a:latin typeface="Gelasio" pitchFamily="34" charset="0"/>
                <a:ea typeface="Gelasio" pitchFamily="34" charset="-122"/>
                <a:cs typeface="Gelasio" pitchFamily="34" charset="-120"/>
              </a:rPr>
              <a:t>Meta's open-access model designed for research and efficiency</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541145"/>
            <a:ext cx="6194703" cy="708779"/>
          </a:xfrm>
          <a:prstGeom prst="rect">
            <a:avLst/>
          </a:prstGeom>
          <a:noFill/>
          <a:ln/>
        </p:spPr>
        <p:txBody>
          <a:bodyPr wrap="none" lIns="0" tIns="0" rIns="0" bIns="0" rtlCol="0" anchor="t"/>
          <a:lstStyle/>
          <a:p>
            <a:pPr algn="l" indent="0" marL="0">
              <a:lnSpc>
                <a:spcPts val="5550"/>
              </a:lnSpc>
              <a:buNone/>
            </a:pPr>
            <a:r>
              <a:rPr lang="en-US" sz="4450" dirty="0">
                <a:solidFill>
                  <a:srgbClr val="D8B6A4"/>
                </a:solidFill>
                <a:latin typeface="Gelasio" pitchFamily="34" charset="0"/>
                <a:ea typeface="Gelasio" pitchFamily="34" charset="-122"/>
                <a:cs typeface="Gelasio" pitchFamily="34" charset="-120"/>
              </a:rPr>
              <a:t>Real-World Applications</a:t>
            </a:r>
            <a:endParaRPr lang="en-US" sz="4450" dirty="0"/>
          </a:p>
        </p:txBody>
      </p:sp>
      <p:pic>
        <p:nvPicPr>
          <p:cNvPr id="3" name="Image 0" descr="preencoded.png">    </p:cNvPr>
          <p:cNvPicPr>
            <a:picLocks noChangeAspect="1"/>
          </p:cNvPicPr>
          <p:nvPr/>
        </p:nvPicPr>
        <p:blipFill>
          <a:blip r:embed="rId1"/>
          <a:stretch>
            <a:fillRect/>
          </a:stretch>
        </p:blipFill>
        <p:spPr>
          <a:xfrm>
            <a:off x="793790" y="2703552"/>
            <a:ext cx="1767840" cy="1767840"/>
          </a:xfrm>
          <a:prstGeom prst="rect">
            <a:avLst/>
          </a:prstGeom>
        </p:spPr>
      </p:pic>
      <p:sp>
        <p:nvSpPr>
          <p:cNvPr id="4" name="Text 1"/>
          <p:cNvSpPr/>
          <p:nvPr/>
        </p:nvSpPr>
        <p:spPr>
          <a:xfrm>
            <a:off x="793790" y="4754880"/>
            <a:ext cx="3048000" cy="708660"/>
          </a:xfrm>
          <a:prstGeom prst="rect">
            <a:avLst/>
          </a:prstGeom>
          <a:noFill/>
          <a:ln/>
        </p:spPr>
        <p:txBody>
          <a:bodyPr wrap="square" lIns="0" tIns="0" rIns="0" bIns="0" rtlCol="0" anchor="t"/>
          <a:lstStyle/>
          <a:p>
            <a:pPr algn="l" indent="0" marL="0">
              <a:lnSpc>
                <a:spcPts val="2750"/>
              </a:lnSpc>
              <a:buNone/>
            </a:pPr>
            <a:r>
              <a:rPr lang="en-US" sz="2200" dirty="0">
                <a:solidFill>
                  <a:srgbClr val="C9C2C0"/>
                </a:solidFill>
                <a:latin typeface="Gelasio" pitchFamily="34" charset="0"/>
                <a:ea typeface="Gelasio" pitchFamily="34" charset="-122"/>
                <a:cs typeface="Gelasio" pitchFamily="34" charset="-120"/>
              </a:rPr>
              <a:t>Conversational Assistants</a:t>
            </a:r>
            <a:endParaRPr lang="en-US" sz="2200" dirty="0"/>
          </a:p>
        </p:txBody>
      </p:sp>
      <p:sp>
        <p:nvSpPr>
          <p:cNvPr id="5" name="Text 2"/>
          <p:cNvSpPr/>
          <p:nvPr/>
        </p:nvSpPr>
        <p:spPr>
          <a:xfrm>
            <a:off x="793790" y="5599628"/>
            <a:ext cx="3048000" cy="1088708"/>
          </a:xfrm>
          <a:prstGeom prst="rect">
            <a:avLst/>
          </a:prstGeom>
          <a:noFill/>
          <a:ln/>
        </p:spPr>
        <p:txBody>
          <a:bodyPr wrap="square" lIns="0" tIns="0" rIns="0" bIns="0" rtlCol="0" anchor="t"/>
          <a:lstStyle/>
          <a:p>
            <a:pPr algn="l" indent="0" marL="0">
              <a:lnSpc>
                <a:spcPts val="2850"/>
              </a:lnSpc>
              <a:buNone/>
            </a:pPr>
            <a:r>
              <a:rPr lang="en-US" sz="1750" dirty="0">
                <a:solidFill>
                  <a:srgbClr val="C9C2C0"/>
                </a:solidFill>
                <a:latin typeface="Gelasio" pitchFamily="34" charset="0"/>
                <a:ea typeface="Gelasio" pitchFamily="34" charset="-122"/>
                <a:cs typeface="Gelasio" pitchFamily="34" charset="-120"/>
              </a:rPr>
              <a:t>Understand and respond to human language naturally in real-time interactions</a:t>
            </a:r>
            <a:endParaRPr lang="en-US" sz="1750" dirty="0"/>
          </a:p>
        </p:txBody>
      </p:sp>
      <p:pic>
        <p:nvPicPr>
          <p:cNvPr id="6" name="Image 1" descr="preencoded.png">    </p:cNvPr>
          <p:cNvPicPr>
            <a:picLocks noChangeAspect="1"/>
          </p:cNvPicPr>
          <p:nvPr/>
        </p:nvPicPr>
        <p:blipFill>
          <a:blip r:embed="rId2"/>
          <a:stretch>
            <a:fillRect/>
          </a:stretch>
        </p:blipFill>
        <p:spPr>
          <a:xfrm>
            <a:off x="4125278" y="2703552"/>
            <a:ext cx="1767840" cy="1767840"/>
          </a:xfrm>
          <a:prstGeom prst="rect">
            <a:avLst/>
          </a:prstGeom>
        </p:spPr>
      </p:pic>
      <p:sp>
        <p:nvSpPr>
          <p:cNvPr id="7" name="Text 3"/>
          <p:cNvSpPr/>
          <p:nvPr/>
        </p:nvSpPr>
        <p:spPr>
          <a:xfrm>
            <a:off x="4125278" y="475488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9C2C0"/>
                </a:solidFill>
                <a:latin typeface="Gelasio" pitchFamily="34" charset="0"/>
                <a:ea typeface="Gelasio" pitchFamily="34" charset="-122"/>
                <a:cs typeface="Gelasio" pitchFamily="34" charset="-120"/>
              </a:rPr>
              <a:t>Content Creation</a:t>
            </a:r>
            <a:endParaRPr lang="en-US" sz="2200" dirty="0"/>
          </a:p>
        </p:txBody>
      </p:sp>
      <p:sp>
        <p:nvSpPr>
          <p:cNvPr id="8" name="Text 4"/>
          <p:cNvSpPr/>
          <p:nvPr/>
        </p:nvSpPr>
        <p:spPr>
          <a:xfrm>
            <a:off x="4125278" y="5245298"/>
            <a:ext cx="3048119" cy="1088708"/>
          </a:xfrm>
          <a:prstGeom prst="rect">
            <a:avLst/>
          </a:prstGeom>
          <a:noFill/>
          <a:ln/>
        </p:spPr>
        <p:txBody>
          <a:bodyPr wrap="square" lIns="0" tIns="0" rIns="0" bIns="0" rtlCol="0" anchor="t"/>
          <a:lstStyle/>
          <a:p>
            <a:pPr algn="l" indent="0" marL="0">
              <a:lnSpc>
                <a:spcPts val="2850"/>
              </a:lnSpc>
              <a:buNone/>
            </a:pPr>
            <a:r>
              <a:rPr lang="en-US" sz="1750" dirty="0">
                <a:solidFill>
                  <a:srgbClr val="C9C2C0"/>
                </a:solidFill>
                <a:latin typeface="Gelasio" pitchFamily="34" charset="0"/>
                <a:ea typeface="Gelasio" pitchFamily="34" charset="-122"/>
                <a:cs typeface="Gelasio" pitchFamily="34" charset="-120"/>
              </a:rPr>
              <a:t>Generate high-quality articles, emails, reports, and creative writing</a:t>
            </a:r>
            <a:endParaRPr lang="en-US" sz="1750" dirty="0"/>
          </a:p>
        </p:txBody>
      </p:sp>
      <p:pic>
        <p:nvPicPr>
          <p:cNvPr id="9" name="Image 2" descr="preencoded.png">    </p:cNvPr>
          <p:cNvPicPr>
            <a:picLocks noChangeAspect="1"/>
          </p:cNvPicPr>
          <p:nvPr/>
        </p:nvPicPr>
        <p:blipFill>
          <a:blip r:embed="rId3"/>
          <a:stretch>
            <a:fillRect/>
          </a:stretch>
        </p:blipFill>
        <p:spPr>
          <a:xfrm>
            <a:off x="7456884" y="2703552"/>
            <a:ext cx="1767840" cy="1767840"/>
          </a:xfrm>
          <a:prstGeom prst="rect">
            <a:avLst/>
          </a:prstGeom>
        </p:spPr>
      </p:pic>
      <p:sp>
        <p:nvSpPr>
          <p:cNvPr id="10" name="Text 5"/>
          <p:cNvSpPr/>
          <p:nvPr/>
        </p:nvSpPr>
        <p:spPr>
          <a:xfrm>
            <a:off x="7456884" y="4754880"/>
            <a:ext cx="3048119" cy="708660"/>
          </a:xfrm>
          <a:prstGeom prst="rect">
            <a:avLst/>
          </a:prstGeom>
          <a:noFill/>
          <a:ln/>
        </p:spPr>
        <p:txBody>
          <a:bodyPr wrap="square" lIns="0" tIns="0" rIns="0" bIns="0" rtlCol="0" anchor="t"/>
          <a:lstStyle/>
          <a:p>
            <a:pPr algn="l" indent="0" marL="0">
              <a:lnSpc>
                <a:spcPts val="2750"/>
              </a:lnSpc>
              <a:buNone/>
            </a:pPr>
            <a:r>
              <a:rPr lang="en-US" sz="2200" dirty="0">
                <a:solidFill>
                  <a:srgbClr val="C9C2C0"/>
                </a:solidFill>
                <a:latin typeface="Gelasio" pitchFamily="34" charset="0"/>
                <a:ea typeface="Gelasio" pitchFamily="34" charset="-122"/>
                <a:cs typeface="Gelasio" pitchFamily="34" charset="-120"/>
              </a:rPr>
              <a:t>Translation &amp; Summarization</a:t>
            </a:r>
            <a:endParaRPr lang="en-US" sz="2200" dirty="0"/>
          </a:p>
        </p:txBody>
      </p:sp>
      <p:sp>
        <p:nvSpPr>
          <p:cNvPr id="11" name="Text 6"/>
          <p:cNvSpPr/>
          <p:nvPr/>
        </p:nvSpPr>
        <p:spPr>
          <a:xfrm>
            <a:off x="7456884" y="5599628"/>
            <a:ext cx="3048119" cy="1088708"/>
          </a:xfrm>
          <a:prstGeom prst="rect">
            <a:avLst/>
          </a:prstGeom>
          <a:noFill/>
          <a:ln/>
        </p:spPr>
        <p:txBody>
          <a:bodyPr wrap="square" lIns="0" tIns="0" rIns="0" bIns="0" rtlCol="0" anchor="t"/>
          <a:lstStyle/>
          <a:p>
            <a:pPr algn="l" indent="0" marL="0">
              <a:lnSpc>
                <a:spcPts val="2850"/>
              </a:lnSpc>
              <a:buNone/>
            </a:pPr>
            <a:r>
              <a:rPr lang="en-US" sz="1750" dirty="0">
                <a:solidFill>
                  <a:srgbClr val="C9C2C0"/>
                </a:solidFill>
                <a:latin typeface="Gelasio" pitchFamily="34" charset="0"/>
                <a:ea typeface="Gelasio" pitchFamily="34" charset="-122"/>
                <a:cs typeface="Gelasio" pitchFamily="34" charset="-120"/>
              </a:rPr>
              <a:t>Translate languages and condense lengthy content into digestible summaries</a:t>
            </a:r>
            <a:endParaRPr lang="en-US" sz="1750" dirty="0"/>
          </a:p>
        </p:txBody>
      </p:sp>
      <p:pic>
        <p:nvPicPr>
          <p:cNvPr id="12" name="Image 3" descr="preencoded.png">    </p:cNvPr>
          <p:cNvPicPr>
            <a:picLocks noChangeAspect="1"/>
          </p:cNvPicPr>
          <p:nvPr/>
        </p:nvPicPr>
        <p:blipFill>
          <a:blip r:embed="rId4"/>
          <a:stretch>
            <a:fillRect/>
          </a:stretch>
        </p:blipFill>
        <p:spPr>
          <a:xfrm>
            <a:off x="10788491" y="2703552"/>
            <a:ext cx="1767840" cy="1767840"/>
          </a:xfrm>
          <a:prstGeom prst="rect">
            <a:avLst/>
          </a:prstGeom>
        </p:spPr>
      </p:pic>
      <p:sp>
        <p:nvSpPr>
          <p:cNvPr id="13" name="Text 7"/>
          <p:cNvSpPr/>
          <p:nvPr/>
        </p:nvSpPr>
        <p:spPr>
          <a:xfrm>
            <a:off x="10788491" y="475488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9C2C0"/>
                </a:solidFill>
                <a:latin typeface="Gelasio" pitchFamily="34" charset="0"/>
                <a:ea typeface="Gelasio" pitchFamily="34" charset="-122"/>
                <a:cs typeface="Gelasio" pitchFamily="34" charset="-120"/>
              </a:rPr>
              <a:t>Coding Support</a:t>
            </a:r>
            <a:endParaRPr lang="en-US" sz="2200" dirty="0"/>
          </a:p>
        </p:txBody>
      </p:sp>
      <p:sp>
        <p:nvSpPr>
          <p:cNvPr id="14" name="Text 8"/>
          <p:cNvSpPr/>
          <p:nvPr/>
        </p:nvSpPr>
        <p:spPr>
          <a:xfrm>
            <a:off x="10788491" y="5245298"/>
            <a:ext cx="3048119" cy="1088708"/>
          </a:xfrm>
          <a:prstGeom prst="rect">
            <a:avLst/>
          </a:prstGeom>
          <a:noFill/>
          <a:ln/>
        </p:spPr>
        <p:txBody>
          <a:bodyPr wrap="square" lIns="0" tIns="0" rIns="0" bIns="0" rtlCol="0" anchor="t"/>
          <a:lstStyle/>
          <a:p>
            <a:pPr algn="l" indent="0" marL="0">
              <a:lnSpc>
                <a:spcPts val="2850"/>
              </a:lnSpc>
              <a:buNone/>
            </a:pPr>
            <a:r>
              <a:rPr lang="en-US" sz="1750" dirty="0">
                <a:solidFill>
                  <a:srgbClr val="C9C2C0"/>
                </a:solidFill>
                <a:latin typeface="Gelasio" pitchFamily="34" charset="0"/>
                <a:ea typeface="Gelasio" pitchFamily="34" charset="-122"/>
                <a:cs typeface="Gelasio" pitchFamily="34" charset="-120"/>
              </a:rPr>
              <a:t>Assist with programming tasks, debugging, and technical problem-solving</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3461385"/>
          </a:xfrm>
          <a:prstGeom prst="rect">
            <a:avLst/>
          </a:prstGeom>
        </p:spPr>
      </p:pic>
      <p:sp>
        <p:nvSpPr>
          <p:cNvPr id="3" name="Text 0"/>
          <p:cNvSpPr/>
          <p:nvPr/>
        </p:nvSpPr>
        <p:spPr>
          <a:xfrm>
            <a:off x="946190" y="4302800"/>
            <a:ext cx="8070413" cy="576858"/>
          </a:xfrm>
          <a:prstGeom prst="rect">
            <a:avLst/>
          </a:prstGeom>
          <a:noFill/>
          <a:ln/>
        </p:spPr>
        <p:txBody>
          <a:bodyPr wrap="none" lIns="0" tIns="0" rIns="0" bIns="0" rtlCol="0" anchor="t"/>
          <a:lstStyle/>
          <a:p>
            <a:pPr algn="l" indent="0" marL="0">
              <a:lnSpc>
                <a:spcPts val="4500"/>
              </a:lnSpc>
              <a:buNone/>
            </a:pPr>
            <a:r>
              <a:rPr lang="en-US" sz="3600" dirty="0">
                <a:solidFill>
                  <a:srgbClr val="D8B6A4"/>
                </a:solidFill>
                <a:latin typeface="Gelasio" pitchFamily="34" charset="0"/>
                <a:ea typeface="Gelasio" pitchFamily="34" charset="-122"/>
                <a:cs typeface="Gelasio" pitchFamily="34" charset="-120"/>
              </a:rPr>
              <a:t>How LLMs Actually Work (The Engine)</a:t>
            </a:r>
            <a:endParaRPr lang="en-US" sz="3600" dirty="0"/>
          </a:p>
        </p:txBody>
      </p:sp>
      <p:sp>
        <p:nvSpPr>
          <p:cNvPr id="4" name="Text 1"/>
          <p:cNvSpPr/>
          <p:nvPr/>
        </p:nvSpPr>
        <p:spPr>
          <a:xfrm>
            <a:off x="946190" y="5104924"/>
            <a:ext cx="12737902" cy="535781"/>
          </a:xfrm>
          <a:prstGeom prst="rect">
            <a:avLst/>
          </a:prstGeom>
          <a:noFill/>
          <a:ln/>
        </p:spPr>
        <p:txBody>
          <a:bodyPr wrap="square" lIns="0" tIns="0" rIns="0" bIns="0" rtlCol="0" anchor="t"/>
          <a:lstStyle/>
          <a:p>
            <a:pPr algn="l" indent="0" marL="0">
              <a:lnSpc>
                <a:spcPts val="2100"/>
              </a:lnSpc>
              <a:buNone/>
            </a:pPr>
            <a:r>
              <a:rPr lang="en-US" sz="1450" b="1" dirty="0">
                <a:solidFill>
                  <a:srgbClr val="C9C2C0"/>
                </a:solidFill>
                <a:latin typeface="Gelasio" pitchFamily="34" charset="0"/>
                <a:ea typeface="Gelasio" pitchFamily="34" charset="-122"/>
                <a:cs typeface="Gelasio" pitchFamily="34" charset="-120"/>
              </a:rPr>
              <a:t>The Core Mechanism:</a:t>
            </a:r>
            <a:pPr algn="l" indent="0" marL="0">
              <a:lnSpc>
                <a:spcPts val="2100"/>
              </a:lnSpc>
              <a:buNone/>
            </a:pPr>
            <a:r>
              <a:rPr lang="en-US" sz="1450" dirty="0">
                <a:solidFill>
                  <a:srgbClr val="C9C2C0"/>
                </a:solidFill>
                <a:latin typeface="Gelasio" pitchFamily="34" charset="0"/>
                <a:ea typeface="Gelasio" pitchFamily="34" charset="-122"/>
                <a:cs typeface="Gelasio" pitchFamily="34" charset="-120"/>
              </a:rPr>
              <a:t> LLMs do not "know" facts; they predict probabilities. They are trained on massive datasets to guess the most likely next word (token) in a sequence.​</a:t>
            </a:r>
            <a:endParaRPr lang="en-US" sz="1450" dirty="0"/>
          </a:p>
        </p:txBody>
      </p:sp>
      <p:sp>
        <p:nvSpPr>
          <p:cNvPr id="5" name="Text 2"/>
          <p:cNvSpPr/>
          <p:nvPr/>
        </p:nvSpPr>
        <p:spPr>
          <a:xfrm>
            <a:off x="946190" y="5809655"/>
            <a:ext cx="12737902" cy="267891"/>
          </a:xfrm>
          <a:prstGeom prst="rect">
            <a:avLst/>
          </a:prstGeom>
          <a:noFill/>
          <a:ln/>
        </p:spPr>
        <p:txBody>
          <a:bodyPr wrap="none" lIns="0" tIns="0" rIns="0" bIns="0" rtlCol="0" anchor="t"/>
          <a:lstStyle/>
          <a:p>
            <a:pPr algn="ctr" indent="0" marL="0">
              <a:lnSpc>
                <a:spcPts val="2100"/>
              </a:lnSpc>
              <a:buNone/>
            </a:pPr>
            <a:r>
              <a:rPr lang="en-US" sz="1450" b="1" dirty="0">
                <a:solidFill>
                  <a:srgbClr val="C9C2C0"/>
                </a:solidFill>
                <a:latin typeface="Gelasio" pitchFamily="34" charset="0"/>
                <a:ea typeface="Gelasio" pitchFamily="34" charset="-122"/>
                <a:cs typeface="Gelasio" pitchFamily="34" charset="-120"/>
              </a:rPr>
              <a:t>The Brain (Transformer Architecture): </a:t>
            </a:r>
            <a:pPr algn="ctr" indent="0" marL="0">
              <a:lnSpc>
                <a:spcPts val="2100"/>
              </a:lnSpc>
              <a:buNone/>
            </a:pPr>
            <a:r>
              <a:rPr lang="en-US" sz="1450" dirty="0">
                <a:solidFill>
                  <a:srgbClr val="C9C2C0"/>
                </a:solidFill>
                <a:latin typeface="Gelasio" pitchFamily="34" charset="0"/>
                <a:ea typeface="Gelasio" pitchFamily="34" charset="-122"/>
                <a:cs typeface="Gelasio" pitchFamily="34" charset="-120"/>
              </a:rPr>
              <a:t>Uses "Attention Mechanisms" to understand context. Example: In "The bank of the river," it knows "bank” ≠​</a:t>
            </a:r>
            <a:endParaRPr lang="en-US" sz="1450" dirty="0"/>
          </a:p>
        </p:txBody>
      </p:sp>
      <p:sp>
        <p:nvSpPr>
          <p:cNvPr id="6" name="Text 3"/>
          <p:cNvSpPr/>
          <p:nvPr/>
        </p:nvSpPr>
        <p:spPr>
          <a:xfrm>
            <a:off x="946190" y="6246495"/>
            <a:ext cx="12737902" cy="267891"/>
          </a:xfrm>
          <a:prstGeom prst="rect">
            <a:avLst/>
          </a:prstGeom>
          <a:noFill/>
          <a:ln/>
        </p:spPr>
        <p:txBody>
          <a:bodyPr wrap="none" lIns="0" tIns="0" rIns="0" bIns="0" rtlCol="0" anchor="t"/>
          <a:lstStyle/>
          <a:p>
            <a:pPr algn="ctr" indent="0" marL="0">
              <a:lnSpc>
                <a:spcPts val="2100"/>
              </a:lnSpc>
              <a:buNone/>
            </a:pPr>
            <a:r>
              <a:rPr lang="en-US" sz="1450" dirty="0">
                <a:solidFill>
                  <a:srgbClr val="C9C2C0"/>
                </a:solidFill>
                <a:latin typeface="Gelasio" pitchFamily="34" charset="0"/>
                <a:ea typeface="Gelasio" pitchFamily="34" charset="-122"/>
                <a:cs typeface="Gelasio" pitchFamily="34" charset="-120"/>
              </a:rPr>
              <a:t>"money" because it pays attention to the word "river."​</a:t>
            </a:r>
            <a:endParaRPr lang="en-US" sz="1450" dirty="0"/>
          </a:p>
        </p:txBody>
      </p:sp>
      <p:sp>
        <p:nvSpPr>
          <p:cNvPr id="7" name="Text 4"/>
          <p:cNvSpPr/>
          <p:nvPr/>
        </p:nvSpPr>
        <p:spPr>
          <a:xfrm>
            <a:off x="946190" y="6683335"/>
            <a:ext cx="12737902" cy="267891"/>
          </a:xfrm>
          <a:prstGeom prst="rect">
            <a:avLst/>
          </a:prstGeom>
          <a:noFill/>
          <a:ln/>
        </p:spPr>
        <p:txBody>
          <a:bodyPr wrap="none" lIns="0" tIns="0" rIns="0" bIns="0" rtlCol="0" anchor="t"/>
          <a:lstStyle/>
          <a:p>
            <a:pPr algn="ctr" indent="0" marL="0">
              <a:lnSpc>
                <a:spcPts val="2100"/>
              </a:lnSpc>
              <a:buNone/>
            </a:pPr>
            <a:r>
              <a:rPr lang="en-US" sz="1450" b="1" dirty="0">
                <a:solidFill>
                  <a:srgbClr val="C9C2C0"/>
                </a:solidFill>
                <a:latin typeface="Gelasio" pitchFamily="34" charset="0"/>
                <a:ea typeface="Gelasio" pitchFamily="34" charset="-122"/>
                <a:cs typeface="Gelasio" pitchFamily="34" charset="-120"/>
              </a:rPr>
              <a:t>Key Takeaway: </a:t>
            </a:r>
            <a:pPr algn="ctr" indent="0" marL="0">
              <a:lnSpc>
                <a:spcPts val="2100"/>
              </a:lnSpc>
              <a:buNone/>
            </a:pPr>
            <a:r>
              <a:rPr lang="en-US" sz="1450" dirty="0">
                <a:solidFill>
                  <a:srgbClr val="C9C2C0"/>
                </a:solidFill>
                <a:latin typeface="Gelasio" pitchFamily="34" charset="0"/>
                <a:ea typeface="Gelasio" pitchFamily="34" charset="-122"/>
                <a:cs typeface="Gelasio" pitchFamily="34" charset="-120"/>
              </a:rPr>
              <a:t>It's not a database search; it's a mathematical prediction engine.​</a:t>
            </a:r>
            <a:endParaRPr lang="en-US" sz="1450" dirty="0"/>
          </a:p>
        </p:txBody>
      </p:sp>
      <p:sp>
        <p:nvSpPr>
          <p:cNvPr id="8" name="Text 5"/>
          <p:cNvSpPr/>
          <p:nvPr/>
        </p:nvSpPr>
        <p:spPr>
          <a:xfrm>
            <a:off x="946190" y="7120176"/>
            <a:ext cx="12737902" cy="267891"/>
          </a:xfrm>
          <a:prstGeom prst="rect">
            <a:avLst/>
          </a:prstGeom>
          <a:noFill/>
          <a:ln/>
        </p:spPr>
        <p:txBody>
          <a:bodyPr wrap="none" lIns="0" tIns="0" rIns="0" bIns="0" rtlCol="0" anchor="t"/>
          <a:lstStyle/>
          <a:p>
            <a:pPr algn="l" indent="0" marL="0">
              <a:lnSpc>
                <a:spcPts val="2100"/>
              </a:lnSpc>
              <a:buNone/>
            </a:pP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33174" y="1057513"/>
            <a:ext cx="7877651" cy="1130618"/>
          </a:xfrm>
          <a:prstGeom prst="rect">
            <a:avLst/>
          </a:prstGeom>
          <a:noFill/>
          <a:ln/>
        </p:spPr>
        <p:txBody>
          <a:bodyPr wrap="square" lIns="0" tIns="0" rIns="0" bIns="0" rtlCol="0" anchor="t"/>
          <a:lstStyle/>
          <a:p>
            <a:pPr algn="l" indent="0" marL="0">
              <a:lnSpc>
                <a:spcPts val="4450"/>
              </a:lnSpc>
              <a:buNone/>
            </a:pPr>
            <a:r>
              <a:rPr lang="en-US" sz="3550" b="1" dirty="0">
                <a:solidFill>
                  <a:srgbClr val="D8B6A4"/>
                </a:solidFill>
                <a:latin typeface="Gelasio" pitchFamily="34" charset="0"/>
                <a:ea typeface="Gelasio" pitchFamily="34" charset="-122"/>
                <a:cs typeface="Gelasio" pitchFamily="34" charset="-120"/>
              </a:rPr>
              <a:t>Basic Working of Large Language Models</a:t>
            </a:r>
            <a:pPr algn="l" indent="0" marL="0">
              <a:lnSpc>
                <a:spcPts val="4450"/>
              </a:lnSpc>
              <a:buNone/>
            </a:pPr>
            <a:r>
              <a:rPr lang="en-US" sz="3550" dirty="0">
                <a:solidFill>
                  <a:srgbClr val="D8B6A4"/>
                </a:solidFill>
                <a:latin typeface="Gelasio" pitchFamily="34" charset="0"/>
                <a:ea typeface="Gelasio" pitchFamily="34" charset="-122"/>
                <a:cs typeface="Gelasio" pitchFamily="34" charset="-120"/>
              </a:rPr>
              <a:t>​</a:t>
            </a:r>
            <a:endParaRPr lang="en-US" sz="3550" dirty="0"/>
          </a:p>
        </p:txBody>
      </p:sp>
      <p:sp>
        <p:nvSpPr>
          <p:cNvPr id="4" name="Text 1"/>
          <p:cNvSpPr/>
          <p:nvPr/>
        </p:nvSpPr>
        <p:spPr>
          <a:xfrm>
            <a:off x="633174" y="2404586"/>
            <a:ext cx="7877651" cy="260152"/>
          </a:xfrm>
          <a:prstGeom prst="rect">
            <a:avLst/>
          </a:prstGeom>
          <a:noFill/>
          <a:ln/>
        </p:spPr>
        <p:txBody>
          <a:bodyPr wrap="none" lIns="0" tIns="0" rIns="0" bIns="0" rtlCol="0" anchor="t"/>
          <a:lstStyle/>
          <a:p>
            <a:pPr algn="ctr" indent="0" marL="0">
              <a:lnSpc>
                <a:spcPts val="2000"/>
              </a:lnSpc>
              <a:buNone/>
            </a:pPr>
            <a:r>
              <a:rPr lang="en-US" sz="1400" b="1" dirty="0">
                <a:solidFill>
                  <a:srgbClr val="C9C2C0"/>
                </a:solidFill>
                <a:latin typeface="Gelasio" pitchFamily="34" charset="0"/>
                <a:ea typeface="Gelasio" pitchFamily="34" charset="-122"/>
                <a:cs typeface="Gelasio" pitchFamily="34" charset="-120"/>
              </a:rPr>
              <a:t>Step-by-Step Working</a:t>
            </a:r>
            <a:endParaRPr lang="en-US" sz="1400" dirty="0"/>
          </a:p>
        </p:txBody>
      </p:sp>
      <p:sp>
        <p:nvSpPr>
          <p:cNvPr id="5" name="Text 2"/>
          <p:cNvSpPr/>
          <p:nvPr/>
        </p:nvSpPr>
        <p:spPr>
          <a:xfrm>
            <a:off x="633174" y="2827020"/>
            <a:ext cx="7877651" cy="260152"/>
          </a:xfrm>
          <a:prstGeom prst="rect">
            <a:avLst/>
          </a:prstGeom>
          <a:noFill/>
          <a:ln/>
        </p:spPr>
        <p:txBody>
          <a:bodyPr wrap="none" lIns="0" tIns="0" rIns="0" bIns="0" rtlCol="0" anchor="t"/>
          <a:lstStyle/>
          <a:p>
            <a:pPr algn="ctr" indent="0" marL="0">
              <a:lnSpc>
                <a:spcPts val="2000"/>
              </a:lnSpc>
              <a:buNone/>
            </a:pPr>
            <a:r>
              <a:rPr lang="en-US" sz="1400" b="1" dirty="0">
                <a:solidFill>
                  <a:srgbClr val="C9C2C0"/>
                </a:solidFill>
                <a:latin typeface="Gelasio" pitchFamily="34" charset="0"/>
                <a:ea typeface="Gelasio" pitchFamily="34" charset="-122"/>
                <a:cs typeface="Gelasio" pitchFamily="34" charset="-120"/>
              </a:rPr>
              <a:t>Input (Prompt): </a:t>
            </a:r>
            <a:pPr algn="ctr" indent="0" marL="0">
              <a:lnSpc>
                <a:spcPts val="2000"/>
              </a:lnSpc>
              <a:buNone/>
            </a:pPr>
            <a:r>
              <a:rPr lang="en-US" sz="1400" dirty="0">
                <a:solidFill>
                  <a:srgbClr val="C9C2C0"/>
                </a:solidFill>
                <a:latin typeface="Gelasio" pitchFamily="34" charset="0"/>
                <a:ea typeface="Gelasio" pitchFamily="34" charset="-122"/>
                <a:cs typeface="Gelasio" pitchFamily="34" charset="-120"/>
              </a:rPr>
              <a:t>User gives instruction. ​</a:t>
            </a:r>
            <a:endParaRPr lang="en-US" sz="1400" dirty="0"/>
          </a:p>
        </p:txBody>
      </p:sp>
      <p:sp>
        <p:nvSpPr>
          <p:cNvPr id="6" name="Text 3"/>
          <p:cNvSpPr/>
          <p:nvPr/>
        </p:nvSpPr>
        <p:spPr>
          <a:xfrm>
            <a:off x="633174" y="3249454"/>
            <a:ext cx="7877651" cy="260152"/>
          </a:xfrm>
          <a:prstGeom prst="rect">
            <a:avLst/>
          </a:prstGeom>
          <a:noFill/>
          <a:ln/>
        </p:spPr>
        <p:txBody>
          <a:bodyPr wrap="none" lIns="0" tIns="0" rIns="0" bIns="0" rtlCol="0" anchor="t"/>
          <a:lstStyle/>
          <a:p>
            <a:pPr algn="l" indent="0" marL="0">
              <a:lnSpc>
                <a:spcPts val="2000"/>
              </a:lnSpc>
              <a:buNone/>
            </a:pPr>
            <a:r>
              <a:rPr lang="en-US" sz="1400" dirty="0">
                <a:solidFill>
                  <a:srgbClr val="C9C2C0"/>
                </a:solidFill>
                <a:latin typeface="Gelasio" pitchFamily="34" charset="0"/>
                <a:ea typeface="Gelasio" pitchFamily="34" charset="-122"/>
                <a:cs typeface="Gelasio" pitchFamily="34" charset="-120"/>
              </a:rPr>
              <a:t>Example: “Create a motivational fitness caption for college students.”​</a:t>
            </a:r>
            <a:endParaRPr lang="en-US" sz="1400" dirty="0"/>
          </a:p>
        </p:txBody>
      </p:sp>
      <p:sp>
        <p:nvSpPr>
          <p:cNvPr id="7" name="Text 4"/>
          <p:cNvSpPr/>
          <p:nvPr/>
        </p:nvSpPr>
        <p:spPr>
          <a:xfrm>
            <a:off x="633174" y="3671888"/>
            <a:ext cx="7877651" cy="267772"/>
          </a:xfrm>
          <a:prstGeom prst="rect">
            <a:avLst/>
          </a:prstGeom>
          <a:noFill/>
          <a:ln/>
        </p:spPr>
        <p:txBody>
          <a:bodyPr wrap="none" lIns="0" tIns="0" rIns="0" bIns="0" rtlCol="0" anchor="t"/>
          <a:lstStyle/>
          <a:p>
            <a:pPr algn="l" indent="0" marL="0">
              <a:lnSpc>
                <a:spcPts val="2000"/>
              </a:lnSpc>
              <a:buNone/>
            </a:pPr>
            <a:r>
              <a:rPr lang="en-US" sz="1400" dirty="0">
                <a:solidFill>
                  <a:srgbClr val="C9C2C0"/>
                </a:solidFill>
                <a:latin typeface="Gelasio" pitchFamily="34" charset="0"/>
                <a:ea typeface="Gelasio" pitchFamily="34" charset="-122"/>
                <a:cs typeface="Gelasio" pitchFamily="34" charset="-120"/>
              </a:rPr>
              <a:t>​</a:t>
            </a:r>
            <a:pPr algn="l" indent="0" marL="0">
              <a:lnSpc>
                <a:spcPts val="2000"/>
              </a:lnSpc>
              <a:buNone/>
            </a:pPr>
            <a:r>
              <a:rPr lang="en-US" sz="1400" dirty="0">
                <a:solidFill>
                  <a:srgbClr val="000000"/>
                </a:solidFill>
                <a:latin typeface="Gelasio" pitchFamily="34" charset="0"/>
                <a:ea typeface="Gelasio" pitchFamily="34" charset="-122"/>
                <a:cs typeface="Gelasio" pitchFamily="34" charset="-120"/>
              </a:rPr>
              <a:t>2️⃣</a:t>
            </a:r>
            <a:pPr algn="l" indent="0" marL="0">
              <a:lnSpc>
                <a:spcPts val="2000"/>
              </a:lnSpc>
              <a:buNone/>
            </a:pPr>
            <a:r>
              <a:rPr lang="en-US" sz="1400" dirty="0">
                <a:solidFill>
                  <a:srgbClr val="C9C2C0"/>
                </a:solidFill>
                <a:latin typeface="Gelasio" pitchFamily="34" charset="0"/>
                <a:ea typeface="Gelasio" pitchFamily="34" charset="-122"/>
                <a:cs typeface="Gelasio" pitchFamily="34" charset="-120"/>
              </a:rPr>
              <a:t> </a:t>
            </a:r>
            <a:pPr algn="l" indent="0" marL="0">
              <a:lnSpc>
                <a:spcPts val="2000"/>
              </a:lnSpc>
              <a:buNone/>
            </a:pPr>
            <a:r>
              <a:rPr lang="en-US" sz="1400" b="1" dirty="0">
                <a:solidFill>
                  <a:srgbClr val="C9C2C0"/>
                </a:solidFill>
                <a:latin typeface="Gelasio" pitchFamily="34" charset="0"/>
                <a:ea typeface="Gelasio" pitchFamily="34" charset="-122"/>
                <a:cs typeface="Gelasio" pitchFamily="34" charset="-120"/>
              </a:rPr>
              <a:t>Understanding Context: </a:t>
            </a:r>
            <a:pPr algn="l" indent="0" marL="0">
              <a:lnSpc>
                <a:spcPts val="2000"/>
              </a:lnSpc>
              <a:buNone/>
            </a:pPr>
            <a:r>
              <a:rPr lang="en-US" sz="1400" dirty="0">
                <a:solidFill>
                  <a:srgbClr val="C9C2C0"/>
                </a:solidFill>
                <a:latin typeface="Gelasio" pitchFamily="34" charset="0"/>
                <a:ea typeface="Gelasio" pitchFamily="34" charset="-122"/>
                <a:cs typeface="Gelasio" pitchFamily="34" charset="-120"/>
              </a:rPr>
              <a:t>LLM identifies:​</a:t>
            </a:r>
            <a:endParaRPr lang="en-US" sz="1400" dirty="0"/>
          </a:p>
        </p:txBody>
      </p:sp>
      <p:sp>
        <p:nvSpPr>
          <p:cNvPr id="8" name="Text 5"/>
          <p:cNvSpPr/>
          <p:nvPr/>
        </p:nvSpPr>
        <p:spPr>
          <a:xfrm>
            <a:off x="633174" y="4101941"/>
            <a:ext cx="7877651" cy="260152"/>
          </a:xfrm>
          <a:prstGeom prst="rect">
            <a:avLst/>
          </a:prstGeom>
          <a:noFill/>
          <a:ln/>
        </p:spPr>
        <p:txBody>
          <a:bodyPr wrap="none" lIns="0" tIns="0" rIns="0" bIns="0" rtlCol="0" anchor="t"/>
          <a:lstStyle/>
          <a:p>
            <a:pPr algn="l" indent="0" marL="0">
              <a:lnSpc>
                <a:spcPts val="2000"/>
              </a:lnSpc>
              <a:buNone/>
            </a:pPr>
            <a:r>
              <a:rPr lang="en-US" sz="1400" dirty="0">
                <a:solidFill>
                  <a:srgbClr val="C9C2C0"/>
                </a:solidFill>
                <a:latin typeface="Gelasio" pitchFamily="34" charset="0"/>
                <a:ea typeface="Gelasio" pitchFamily="34" charset="-122"/>
                <a:cs typeface="Gelasio" pitchFamily="34" charset="-120"/>
              </a:rPr>
              <a:t>Topic → Fitness​</a:t>
            </a:r>
            <a:endParaRPr lang="en-US" sz="1400" dirty="0"/>
          </a:p>
        </p:txBody>
      </p:sp>
      <p:sp>
        <p:nvSpPr>
          <p:cNvPr id="9" name="Text 6"/>
          <p:cNvSpPr/>
          <p:nvPr/>
        </p:nvSpPr>
        <p:spPr>
          <a:xfrm>
            <a:off x="633174" y="4524375"/>
            <a:ext cx="7877651" cy="260152"/>
          </a:xfrm>
          <a:prstGeom prst="rect">
            <a:avLst/>
          </a:prstGeom>
          <a:noFill/>
          <a:ln/>
        </p:spPr>
        <p:txBody>
          <a:bodyPr wrap="none" lIns="0" tIns="0" rIns="0" bIns="0" rtlCol="0" anchor="t"/>
          <a:lstStyle/>
          <a:p>
            <a:pPr algn="l" indent="0" marL="0">
              <a:lnSpc>
                <a:spcPts val="2000"/>
              </a:lnSpc>
              <a:buNone/>
            </a:pPr>
            <a:r>
              <a:rPr lang="en-US" sz="1400" dirty="0">
                <a:solidFill>
                  <a:srgbClr val="C9C2C0"/>
                </a:solidFill>
                <a:latin typeface="Gelasio" pitchFamily="34" charset="0"/>
                <a:ea typeface="Gelasio" pitchFamily="34" charset="-122"/>
                <a:cs typeface="Gelasio" pitchFamily="34" charset="-120"/>
              </a:rPr>
              <a:t>Audience → College Students​</a:t>
            </a:r>
            <a:endParaRPr lang="en-US" sz="1400" dirty="0"/>
          </a:p>
        </p:txBody>
      </p:sp>
      <p:sp>
        <p:nvSpPr>
          <p:cNvPr id="10" name="Text 7"/>
          <p:cNvSpPr/>
          <p:nvPr/>
        </p:nvSpPr>
        <p:spPr>
          <a:xfrm>
            <a:off x="633174" y="4946809"/>
            <a:ext cx="7877651" cy="260152"/>
          </a:xfrm>
          <a:prstGeom prst="rect">
            <a:avLst/>
          </a:prstGeom>
          <a:noFill/>
          <a:ln/>
        </p:spPr>
        <p:txBody>
          <a:bodyPr wrap="none" lIns="0" tIns="0" rIns="0" bIns="0" rtlCol="0" anchor="t"/>
          <a:lstStyle/>
          <a:p>
            <a:pPr algn="l" indent="0" marL="0">
              <a:lnSpc>
                <a:spcPts val="2000"/>
              </a:lnSpc>
              <a:buNone/>
            </a:pPr>
            <a:r>
              <a:rPr lang="en-US" sz="1400" dirty="0">
                <a:solidFill>
                  <a:srgbClr val="C9C2C0"/>
                </a:solidFill>
                <a:latin typeface="Gelasio" pitchFamily="34" charset="0"/>
                <a:ea typeface="Gelasio" pitchFamily="34" charset="-122"/>
                <a:cs typeface="Gelasio" pitchFamily="34" charset="-120"/>
              </a:rPr>
              <a:t>Tone → Motivational​</a:t>
            </a:r>
            <a:endParaRPr lang="en-US" sz="1400" dirty="0"/>
          </a:p>
        </p:txBody>
      </p:sp>
      <p:sp>
        <p:nvSpPr>
          <p:cNvPr id="11" name="Text 8"/>
          <p:cNvSpPr/>
          <p:nvPr/>
        </p:nvSpPr>
        <p:spPr>
          <a:xfrm>
            <a:off x="633174" y="5369243"/>
            <a:ext cx="7877651" cy="527923"/>
          </a:xfrm>
          <a:prstGeom prst="rect">
            <a:avLst/>
          </a:prstGeom>
          <a:noFill/>
          <a:ln/>
        </p:spPr>
        <p:txBody>
          <a:bodyPr wrap="square" lIns="0" tIns="0" rIns="0" bIns="0" rtlCol="0" anchor="t"/>
          <a:lstStyle/>
          <a:p>
            <a:pPr algn="l" indent="0" marL="0">
              <a:lnSpc>
                <a:spcPts val="2000"/>
              </a:lnSpc>
              <a:buNone/>
            </a:pPr>
            <a:r>
              <a:rPr lang="en-US" sz="1400" dirty="0">
                <a:solidFill>
                  <a:srgbClr val="C9C2C0"/>
                </a:solidFill>
                <a:latin typeface="Gelasio" pitchFamily="34" charset="0"/>
                <a:ea typeface="Gelasio" pitchFamily="34" charset="-122"/>
                <a:cs typeface="Gelasio" pitchFamily="34" charset="-120"/>
              </a:rPr>
              <a:t>​</a:t>
            </a:r>
            <a:pPr algn="l" indent="0" marL="0">
              <a:lnSpc>
                <a:spcPts val="2000"/>
              </a:lnSpc>
              <a:buNone/>
            </a:pPr>
            <a:r>
              <a:rPr lang="en-US" sz="1400" dirty="0">
                <a:solidFill>
                  <a:srgbClr val="000000"/>
                </a:solidFill>
                <a:latin typeface="Gelasio" pitchFamily="34" charset="0"/>
                <a:ea typeface="Gelasio" pitchFamily="34" charset="-122"/>
                <a:cs typeface="Gelasio" pitchFamily="34" charset="-120"/>
              </a:rPr>
              <a:t>3️⃣</a:t>
            </a:r>
            <a:pPr algn="l" indent="0" marL="0">
              <a:lnSpc>
                <a:spcPts val="2000"/>
              </a:lnSpc>
              <a:buNone/>
            </a:pPr>
            <a:r>
              <a:rPr lang="en-US" sz="1400" dirty="0">
                <a:solidFill>
                  <a:srgbClr val="C9C2C0"/>
                </a:solidFill>
                <a:latin typeface="Gelasio" pitchFamily="34" charset="0"/>
                <a:ea typeface="Gelasio" pitchFamily="34" charset="-122"/>
                <a:cs typeface="Gelasio" pitchFamily="34" charset="-120"/>
              </a:rPr>
              <a:t> </a:t>
            </a:r>
            <a:pPr algn="l" indent="0" marL="0">
              <a:lnSpc>
                <a:spcPts val="2000"/>
              </a:lnSpc>
              <a:buNone/>
            </a:pPr>
            <a:r>
              <a:rPr lang="en-US" sz="1400" b="1" dirty="0">
                <a:solidFill>
                  <a:srgbClr val="C9C2C0"/>
                </a:solidFill>
                <a:latin typeface="Gelasio" pitchFamily="34" charset="0"/>
                <a:ea typeface="Gelasio" pitchFamily="34" charset="-122"/>
                <a:cs typeface="Gelasio" pitchFamily="34" charset="-120"/>
              </a:rPr>
              <a:t>Token Prediction: </a:t>
            </a:r>
            <a:pPr algn="l" indent="0" marL="0">
              <a:lnSpc>
                <a:spcPts val="2000"/>
              </a:lnSpc>
              <a:buNone/>
            </a:pPr>
            <a:r>
              <a:rPr lang="en-US" sz="1400" dirty="0">
                <a:solidFill>
                  <a:srgbClr val="C9C2C0"/>
                </a:solidFill>
                <a:latin typeface="Gelasio" pitchFamily="34" charset="0"/>
                <a:ea typeface="Gelasio" pitchFamily="34" charset="-122"/>
                <a:cs typeface="Gelasio" pitchFamily="34" charset="-120"/>
              </a:rPr>
              <a:t>LLM predicts the next most meaningful word basedon patterns learned during training.​</a:t>
            </a:r>
            <a:endParaRPr lang="en-US" sz="1400" dirty="0"/>
          </a:p>
        </p:txBody>
      </p:sp>
      <p:sp>
        <p:nvSpPr>
          <p:cNvPr id="12" name="Text 9"/>
          <p:cNvSpPr/>
          <p:nvPr/>
        </p:nvSpPr>
        <p:spPr>
          <a:xfrm>
            <a:off x="633174" y="6059448"/>
            <a:ext cx="7877651" cy="267772"/>
          </a:xfrm>
          <a:prstGeom prst="rect">
            <a:avLst/>
          </a:prstGeom>
          <a:noFill/>
          <a:ln/>
        </p:spPr>
        <p:txBody>
          <a:bodyPr wrap="none" lIns="0" tIns="0" rIns="0" bIns="0" rtlCol="0" anchor="t"/>
          <a:lstStyle/>
          <a:p>
            <a:pPr algn="l" indent="0" marL="0">
              <a:lnSpc>
                <a:spcPts val="2000"/>
              </a:lnSpc>
              <a:buNone/>
            </a:pPr>
            <a:r>
              <a:rPr lang="en-US" sz="1400" dirty="0">
                <a:solidFill>
                  <a:srgbClr val="000000"/>
                </a:solidFill>
                <a:latin typeface="Gelasio" pitchFamily="34" charset="0"/>
                <a:ea typeface="Gelasio" pitchFamily="34" charset="-122"/>
                <a:cs typeface="Gelasio" pitchFamily="34" charset="-120"/>
              </a:rPr>
              <a:t>4️⃣</a:t>
            </a:r>
            <a:pPr algn="l" indent="0" marL="0">
              <a:lnSpc>
                <a:spcPts val="2000"/>
              </a:lnSpc>
              <a:buNone/>
            </a:pPr>
            <a:r>
              <a:rPr lang="en-US" sz="1400" dirty="0">
                <a:solidFill>
                  <a:srgbClr val="C9C2C0"/>
                </a:solidFill>
                <a:latin typeface="Gelasio" pitchFamily="34" charset="0"/>
                <a:ea typeface="Gelasio" pitchFamily="34" charset="-122"/>
                <a:cs typeface="Gelasio" pitchFamily="34" charset="-120"/>
              </a:rPr>
              <a:t> </a:t>
            </a:r>
            <a:pPr algn="l" indent="0" marL="0">
              <a:lnSpc>
                <a:spcPts val="2000"/>
              </a:lnSpc>
              <a:buNone/>
            </a:pPr>
            <a:r>
              <a:rPr lang="en-US" sz="1400" b="1" dirty="0">
                <a:solidFill>
                  <a:srgbClr val="C9C2C0"/>
                </a:solidFill>
                <a:latin typeface="Gelasio" pitchFamily="34" charset="0"/>
                <a:ea typeface="Gelasio" pitchFamily="34" charset="-122"/>
                <a:cs typeface="Gelasio" pitchFamily="34" charset="-120"/>
              </a:rPr>
              <a:t>Output Generation: </a:t>
            </a:r>
            <a:pPr algn="l" indent="0" marL="0">
              <a:lnSpc>
                <a:spcPts val="2000"/>
              </a:lnSpc>
              <a:buNone/>
            </a:pPr>
            <a:r>
              <a:rPr lang="en-US" sz="1400" dirty="0">
                <a:solidFill>
                  <a:srgbClr val="C9C2C0"/>
                </a:solidFill>
                <a:latin typeface="Gelasio" pitchFamily="34" charset="0"/>
                <a:ea typeface="Gelasio" pitchFamily="34" charset="-122"/>
                <a:cs typeface="Gelasio" pitchFamily="34" charset="-120"/>
              </a:rPr>
              <a:t>Produces complete human-like text response.​</a:t>
            </a:r>
            <a:endParaRPr lang="en-US" sz="1400" dirty="0"/>
          </a:p>
        </p:txBody>
      </p:sp>
      <p:sp>
        <p:nvSpPr>
          <p:cNvPr id="13" name="Text 10"/>
          <p:cNvSpPr/>
          <p:nvPr/>
        </p:nvSpPr>
        <p:spPr>
          <a:xfrm>
            <a:off x="633174" y="6489502"/>
            <a:ext cx="7877651" cy="260152"/>
          </a:xfrm>
          <a:prstGeom prst="rect">
            <a:avLst/>
          </a:prstGeom>
          <a:noFill/>
          <a:ln/>
        </p:spPr>
        <p:txBody>
          <a:bodyPr wrap="none" lIns="0" tIns="0" rIns="0" bIns="0" rtlCol="0" anchor="t"/>
          <a:lstStyle/>
          <a:p>
            <a:pPr algn="l" indent="0" marL="0">
              <a:lnSpc>
                <a:spcPts val="2000"/>
              </a:lnSpc>
              <a:buNone/>
            </a:pPr>
            <a:r>
              <a:rPr lang="en-US" sz="1400" b="1" dirty="0">
                <a:solidFill>
                  <a:srgbClr val="C9C2C0"/>
                </a:solidFill>
                <a:latin typeface="Gelasio" pitchFamily="34" charset="0"/>
                <a:ea typeface="Gelasio" pitchFamily="34" charset="-122"/>
                <a:cs typeface="Gelasio" pitchFamily="34" charset="-120"/>
              </a:rPr>
              <a:t>Key Point: </a:t>
            </a:r>
            <a:pPr algn="l" indent="0" marL="0">
              <a:lnSpc>
                <a:spcPts val="2000"/>
              </a:lnSpc>
              <a:buNone/>
            </a:pPr>
            <a:r>
              <a:rPr lang="en-US" sz="1400" dirty="0">
                <a:solidFill>
                  <a:srgbClr val="C9C2C0"/>
                </a:solidFill>
                <a:latin typeface="Gelasio" pitchFamily="34" charset="0"/>
                <a:ea typeface="Gelasio" pitchFamily="34" charset="-122"/>
                <a:cs typeface="Gelasio" pitchFamily="34" charset="-120"/>
              </a:rPr>
              <a:t>LLM does not “search answers” — it predicts language patternsto generate responses.​</a:t>
            </a:r>
            <a:endParaRPr lang="en-US" sz="1400" dirty="0"/>
          </a:p>
        </p:txBody>
      </p:sp>
      <p:sp>
        <p:nvSpPr>
          <p:cNvPr id="14" name="Text 11"/>
          <p:cNvSpPr/>
          <p:nvPr/>
        </p:nvSpPr>
        <p:spPr>
          <a:xfrm>
            <a:off x="633174" y="6911935"/>
            <a:ext cx="7877651" cy="260152"/>
          </a:xfrm>
          <a:prstGeom prst="rect">
            <a:avLst/>
          </a:prstGeom>
          <a:noFill/>
          <a:ln/>
        </p:spPr>
        <p:txBody>
          <a:bodyPr wrap="none" lIns="0" tIns="0" rIns="0" bIns="0" rtlCol="0" anchor="t"/>
          <a:lstStyle/>
          <a:p>
            <a:pPr algn="l" indent="0" marL="0">
              <a:lnSpc>
                <a:spcPts val="2000"/>
              </a:lnSpc>
              <a:buNone/>
            </a:pPr>
            <a:r>
              <a:rPr lang="en-US" sz="1400" dirty="0">
                <a:solidFill>
                  <a:srgbClr val="C9C2C0"/>
                </a:solidFill>
                <a:latin typeface="Gelasio" pitchFamily="34" charset="0"/>
                <a:ea typeface="Gelasio" pitchFamily="34" charset="-122"/>
                <a:cs typeface="Gelasio" pitchFamily="34" charset="-120"/>
              </a:rPr>
              <a: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88062" y="820817"/>
            <a:ext cx="6213515" cy="614363"/>
          </a:xfrm>
          <a:prstGeom prst="rect">
            <a:avLst/>
          </a:prstGeom>
          <a:noFill/>
          <a:ln/>
        </p:spPr>
        <p:txBody>
          <a:bodyPr wrap="none" lIns="0" tIns="0" rIns="0" bIns="0" rtlCol="0" anchor="t"/>
          <a:lstStyle/>
          <a:p>
            <a:pPr algn="l" indent="0" marL="0">
              <a:lnSpc>
                <a:spcPts val="4800"/>
              </a:lnSpc>
              <a:buNone/>
            </a:pPr>
            <a:r>
              <a:rPr lang="en-US" sz="3850" dirty="0">
                <a:solidFill>
                  <a:srgbClr val="D8B6A4"/>
                </a:solidFill>
                <a:latin typeface="Gelasio" pitchFamily="34" charset="0"/>
                <a:ea typeface="Gelasio" pitchFamily="34" charset="-122"/>
                <a:cs typeface="Gelasio" pitchFamily="34" charset="-120"/>
              </a:rPr>
              <a:t> </a:t>
            </a:r>
            <a:pPr algn="l" indent="0" marL="0">
              <a:lnSpc>
                <a:spcPts val="4800"/>
              </a:lnSpc>
              <a:buNone/>
            </a:pPr>
            <a:r>
              <a:rPr lang="en-US" sz="3850" b="1" dirty="0">
                <a:solidFill>
                  <a:srgbClr val="D8B6A4"/>
                </a:solidFill>
                <a:latin typeface="Gelasio" pitchFamily="34" charset="0"/>
                <a:ea typeface="Gelasio" pitchFamily="34" charset="-122"/>
                <a:cs typeface="Gelasio" pitchFamily="34" charset="-120"/>
              </a:rPr>
              <a:t>The "Generative" Power</a:t>
            </a:r>
            <a:pPr algn="l" indent="0" marL="0">
              <a:lnSpc>
                <a:spcPts val="4800"/>
              </a:lnSpc>
              <a:buNone/>
            </a:pPr>
            <a:r>
              <a:rPr lang="en-US" sz="3850" dirty="0">
                <a:solidFill>
                  <a:srgbClr val="D8B6A4"/>
                </a:solidFill>
                <a:latin typeface="Gelasio" pitchFamily="34" charset="0"/>
                <a:ea typeface="Gelasio" pitchFamily="34" charset="-122"/>
                <a:cs typeface="Gelasio" pitchFamily="34" charset="-120"/>
              </a:rPr>
              <a:t>​</a:t>
            </a:r>
            <a:endParaRPr lang="en-US" sz="3850" dirty="0"/>
          </a:p>
        </p:txBody>
      </p:sp>
      <p:sp>
        <p:nvSpPr>
          <p:cNvPr id="4" name="Text 1"/>
          <p:cNvSpPr/>
          <p:nvPr/>
        </p:nvSpPr>
        <p:spPr>
          <a:xfrm>
            <a:off x="688062" y="1690687"/>
            <a:ext cx="7767876" cy="293489"/>
          </a:xfrm>
          <a:prstGeom prst="rect">
            <a:avLst/>
          </a:prstGeom>
          <a:noFill/>
          <a:ln/>
        </p:spPr>
        <p:txBody>
          <a:bodyPr wrap="none" lIns="0" tIns="0" rIns="0" bIns="0" rtlCol="0" anchor="t"/>
          <a:lstStyle/>
          <a:p>
            <a:pPr algn="l" indent="0" marL="0">
              <a:lnSpc>
                <a:spcPts val="2300"/>
              </a:lnSpc>
              <a:buNone/>
            </a:pPr>
            <a:r>
              <a:rPr lang="en-US" sz="1500" b="1" u="sng" dirty="0">
                <a:solidFill>
                  <a:srgbClr val="C9C2C0"/>
                </a:solidFill>
                <a:latin typeface="Gelasio" pitchFamily="34" charset="0"/>
                <a:ea typeface="Gelasio" pitchFamily="34" charset="-122"/>
                <a:cs typeface="Gelasio" pitchFamily="34" charset="-120"/>
              </a:rPr>
              <a:t>STATIC </a:t>
            </a:r>
            <a:pPr algn="l" indent="0" marL="0">
              <a:lnSpc>
                <a:spcPts val="2300"/>
              </a:lnSpc>
              <a:buNone/>
            </a:pPr>
            <a:r>
              <a:rPr lang="en-US" sz="1500" dirty="0">
                <a:solidFill>
                  <a:srgbClr val="C9C2C0"/>
                </a:solidFill>
                <a:latin typeface="Gelasio" pitchFamily="34" charset="0"/>
                <a:ea typeface="Gelasio" pitchFamily="34" charset="-122"/>
                <a:cs typeface="Gelasio" pitchFamily="34" charset="-120"/>
              </a:rPr>
              <a:t>​</a:t>
            </a:r>
            <a:endParaRPr lang="en-US" sz="1500" dirty="0"/>
          </a:p>
        </p:txBody>
      </p:sp>
      <p:sp>
        <p:nvSpPr>
          <p:cNvPr id="5" name="Text 2"/>
          <p:cNvSpPr/>
          <p:nvPr/>
        </p:nvSpPr>
        <p:spPr>
          <a:xfrm>
            <a:off x="688062" y="2175867"/>
            <a:ext cx="7767876" cy="1468092"/>
          </a:xfrm>
          <a:prstGeom prst="rect">
            <a:avLst/>
          </a:prstGeom>
          <a:noFill/>
          <a:ln/>
        </p:spPr>
        <p:txBody>
          <a:bodyPr wrap="square" lIns="0" tIns="0" rIns="0" bIns="0" rtlCol="0" anchor="t"/>
          <a:lstStyle/>
          <a:p>
            <a:pPr algn="l" marL="342900" indent="-342900">
              <a:lnSpc>
                <a:spcPts val="2300"/>
              </a:lnSpc>
              <a:buSzPct val="100000"/>
              <a:buChar char="•"/>
            </a:pPr>
            <a:r>
              <a:rPr lang="en-US" sz="1500" b="1" dirty="0">
                <a:solidFill>
                  <a:srgbClr val="C9C2C0"/>
                </a:solidFill>
                <a:latin typeface="Gelasio" pitchFamily="34" charset="0"/>
                <a:ea typeface="Gelasio" pitchFamily="34" charset="-122"/>
                <a:cs typeface="Gelasio" pitchFamily="34" charset="-120"/>
              </a:rPr>
              <a:t>Goal:</a:t>
            </a:r>
            <a:pPr algn="l" indent="0" marL="0">
              <a:lnSpc>
                <a:spcPts val="2300"/>
              </a:lnSpc>
              <a:buNone/>
            </a:pPr>
            <a:r>
              <a:rPr lang="en-US" sz="1500" dirty="0">
                <a:solidFill>
                  <a:srgbClr val="C9C2C0"/>
                </a:solidFill>
                <a:latin typeface="Gelasio" pitchFamily="34" charset="0"/>
                <a:ea typeface="Gelasio" pitchFamily="34" charset="-122"/>
                <a:cs typeface="Gelasio" pitchFamily="34" charset="-120"/>
              </a:rPr>
              <a:t> Classify or Discriminate.​</a:t>
            </a:r>
            <a:endParaRPr lang="en-US" sz="1500" dirty="0"/>
          </a:p>
          <a:p>
            <a:pPr algn="l" marL="342900" indent="-342900">
              <a:lnSpc>
                <a:spcPts val="2300"/>
              </a:lnSpc>
              <a:buSzPct val="100000"/>
              <a:buChar char="•"/>
            </a:pPr>
            <a:r>
              <a:rPr lang="en-US" sz="1500" dirty="0">
                <a:solidFill>
                  <a:srgbClr val="C9C2C0"/>
                </a:solidFill>
                <a:latin typeface="Gelasio" pitchFamily="34" charset="0"/>
                <a:ea typeface="Gelasio" pitchFamily="34" charset="-122"/>
                <a:cs typeface="Gelasio" pitchFamily="34" charset="-120"/>
              </a:rPr>
              <a:t>Retrieve: Finds existing data.​</a:t>
            </a:r>
            <a:endParaRPr lang="en-US" sz="1500" dirty="0"/>
          </a:p>
          <a:p>
            <a:pPr algn="l" marL="342900" indent="-342900">
              <a:lnSpc>
                <a:spcPts val="2300"/>
              </a:lnSpc>
              <a:buSzPct val="100000"/>
              <a:buChar char="•"/>
            </a:pPr>
            <a:r>
              <a:rPr lang="en-US" sz="1500" b="1" dirty="0">
                <a:solidFill>
                  <a:srgbClr val="C9C2C0"/>
                </a:solidFill>
                <a:latin typeface="Gelasio" pitchFamily="34" charset="0"/>
                <a:ea typeface="Gelasio" pitchFamily="34" charset="-122"/>
                <a:cs typeface="Gelasio" pitchFamily="34" charset="-120"/>
              </a:rPr>
              <a:t>Example:</a:t>
            </a:r>
            <a:pPr algn="l" indent="0" marL="0">
              <a:lnSpc>
                <a:spcPts val="2300"/>
              </a:lnSpc>
              <a:buNone/>
            </a:pPr>
            <a:r>
              <a:rPr lang="en-US" sz="1500" dirty="0">
                <a:solidFill>
                  <a:srgbClr val="C9C2C0"/>
                </a:solidFill>
                <a:latin typeface="Gelasio" pitchFamily="34" charset="0"/>
                <a:ea typeface="Gelasio" pitchFamily="34" charset="-122"/>
                <a:cs typeface="Gelasio" pitchFamily="34" charset="-120"/>
              </a:rPr>
              <a:t> "Is this email Spam or Not Spam?"​</a:t>
            </a:r>
            <a:endParaRPr lang="en-US" sz="1500" dirty="0"/>
          </a:p>
          <a:p>
            <a:pPr algn="l" marL="342900" indent="-342900">
              <a:lnSpc>
                <a:spcPts val="2300"/>
              </a:lnSpc>
              <a:buSzPct val="100000"/>
              <a:buChar char="•"/>
            </a:pPr>
            <a:r>
              <a:rPr lang="en-US" sz="1500" dirty="0">
                <a:solidFill>
                  <a:srgbClr val="C9C2C0"/>
                </a:solidFill>
                <a:latin typeface="Gelasio" pitchFamily="34" charset="0"/>
                <a:ea typeface="Gelasio" pitchFamily="34" charset="-122"/>
                <a:cs typeface="Gelasio" pitchFamily="34" charset="-120"/>
              </a:rPr>
              <a:t>Limitation: Can only show you what already exists. Ifa personalized summary doesn't exist, it can't show it.​</a:t>
            </a:r>
            <a:endParaRPr lang="en-US" sz="1500" dirty="0"/>
          </a:p>
        </p:txBody>
      </p:sp>
      <p:sp>
        <p:nvSpPr>
          <p:cNvPr id="6" name="Text 3"/>
          <p:cNvSpPr/>
          <p:nvPr/>
        </p:nvSpPr>
        <p:spPr>
          <a:xfrm>
            <a:off x="688062" y="3835650"/>
            <a:ext cx="7767876" cy="293489"/>
          </a:xfrm>
          <a:prstGeom prst="rect">
            <a:avLst/>
          </a:prstGeom>
          <a:noFill/>
          <a:ln/>
        </p:spPr>
        <p:txBody>
          <a:bodyPr wrap="none" lIns="0" tIns="0" rIns="0" bIns="0" rtlCol="0" anchor="t"/>
          <a:lstStyle/>
          <a:p>
            <a:pPr algn="l" indent="0" marL="0">
              <a:lnSpc>
                <a:spcPts val="2300"/>
              </a:lnSpc>
              <a:buNone/>
            </a:pPr>
            <a:r>
              <a:rPr lang="en-US" sz="1500" b="1" u="sng" dirty="0">
                <a:solidFill>
                  <a:srgbClr val="C9C2C0"/>
                </a:solidFill>
                <a:latin typeface="Gelasio" pitchFamily="34" charset="0"/>
                <a:ea typeface="Gelasio" pitchFamily="34" charset="-122"/>
                <a:cs typeface="Gelasio" pitchFamily="34" charset="-120"/>
              </a:rPr>
              <a:t>GENERATIVE</a:t>
            </a:r>
            <a:pPr algn="l" indent="0" marL="0">
              <a:lnSpc>
                <a:spcPts val="2300"/>
              </a:lnSpc>
              <a:buNone/>
            </a:pPr>
            <a:r>
              <a:rPr lang="en-US" sz="1500" dirty="0">
                <a:solidFill>
                  <a:srgbClr val="C9C2C0"/>
                </a:solidFill>
                <a:latin typeface="Gelasio" pitchFamily="34" charset="0"/>
                <a:ea typeface="Gelasio" pitchFamily="34" charset="-122"/>
                <a:cs typeface="Gelasio" pitchFamily="34" charset="-120"/>
              </a:rPr>
              <a:t>​</a:t>
            </a:r>
            <a:endParaRPr lang="en-US" sz="1500" dirty="0"/>
          </a:p>
        </p:txBody>
      </p:sp>
      <p:sp>
        <p:nvSpPr>
          <p:cNvPr id="7" name="Text 4"/>
          <p:cNvSpPr/>
          <p:nvPr/>
        </p:nvSpPr>
        <p:spPr>
          <a:xfrm>
            <a:off x="688062" y="4320830"/>
            <a:ext cx="7767876" cy="1468092"/>
          </a:xfrm>
          <a:prstGeom prst="rect">
            <a:avLst/>
          </a:prstGeom>
          <a:noFill/>
          <a:ln/>
        </p:spPr>
        <p:txBody>
          <a:bodyPr wrap="square" lIns="0" tIns="0" rIns="0" bIns="0" rtlCol="0" anchor="t"/>
          <a:lstStyle/>
          <a:p>
            <a:pPr algn="l" marL="342900" indent="-342900">
              <a:lnSpc>
                <a:spcPts val="2300"/>
              </a:lnSpc>
              <a:buSzPct val="100000"/>
              <a:buChar char="•"/>
            </a:pPr>
            <a:r>
              <a:rPr lang="en-US" sz="1500" b="1" dirty="0">
                <a:solidFill>
                  <a:srgbClr val="C9C2C0"/>
                </a:solidFill>
                <a:latin typeface="Gelasio" pitchFamily="34" charset="0"/>
                <a:ea typeface="Gelasio" pitchFamily="34" charset="-122"/>
                <a:cs typeface="Gelasio" pitchFamily="34" charset="-120"/>
              </a:rPr>
              <a:t>Goal:</a:t>
            </a:r>
            <a:pPr algn="l" indent="0" marL="0">
              <a:lnSpc>
                <a:spcPts val="2300"/>
              </a:lnSpc>
              <a:buNone/>
            </a:pPr>
            <a:r>
              <a:rPr lang="en-US" sz="1500" dirty="0">
                <a:solidFill>
                  <a:srgbClr val="C9C2C0"/>
                </a:solidFill>
                <a:latin typeface="Gelasio" pitchFamily="34" charset="0"/>
                <a:ea typeface="Gelasio" pitchFamily="34" charset="-122"/>
                <a:cs typeface="Gelasio" pitchFamily="34" charset="-120"/>
              </a:rPr>
              <a:t> Create and Generate.​</a:t>
            </a:r>
            <a:endParaRPr lang="en-US" sz="1500" dirty="0"/>
          </a:p>
          <a:p>
            <a:pPr algn="l" marL="342900" indent="-342900">
              <a:lnSpc>
                <a:spcPts val="2300"/>
              </a:lnSpc>
              <a:buSzPct val="100000"/>
              <a:buChar char="•"/>
            </a:pPr>
            <a:r>
              <a:rPr lang="en-US" sz="1500" dirty="0">
                <a:solidFill>
                  <a:srgbClr val="C9C2C0"/>
                </a:solidFill>
                <a:latin typeface="Gelasio" pitchFamily="34" charset="0"/>
                <a:ea typeface="Gelasio" pitchFamily="34" charset="-122"/>
                <a:cs typeface="Gelasio" pitchFamily="34" charset="-120"/>
              </a:rPr>
              <a:t>Create: Synthesizes new data from scratch.​</a:t>
            </a:r>
            <a:endParaRPr lang="en-US" sz="1500" dirty="0"/>
          </a:p>
          <a:p>
            <a:pPr algn="l" marL="342900" indent="-342900">
              <a:lnSpc>
                <a:spcPts val="2300"/>
              </a:lnSpc>
              <a:buSzPct val="100000"/>
              <a:buChar char="•"/>
            </a:pPr>
            <a:r>
              <a:rPr lang="en-US" sz="1500" b="1" dirty="0">
                <a:solidFill>
                  <a:srgbClr val="C9C2C0"/>
                </a:solidFill>
                <a:latin typeface="Gelasio" pitchFamily="34" charset="0"/>
                <a:ea typeface="Gelasio" pitchFamily="34" charset="-122"/>
                <a:cs typeface="Gelasio" pitchFamily="34" charset="-120"/>
              </a:rPr>
              <a:t>Example:</a:t>
            </a:r>
            <a:pPr algn="l" indent="0" marL="0">
              <a:lnSpc>
                <a:spcPts val="2300"/>
              </a:lnSpc>
              <a:buNone/>
            </a:pPr>
            <a:r>
              <a:rPr lang="en-US" sz="1500" dirty="0">
                <a:solidFill>
                  <a:srgbClr val="C9C2C0"/>
                </a:solidFill>
                <a:latin typeface="Gelasio" pitchFamily="34" charset="0"/>
                <a:ea typeface="Gelasio" pitchFamily="34" charset="-122"/>
                <a:cs typeface="Gelasio" pitchFamily="34" charset="-120"/>
              </a:rPr>
              <a:t> "Write a reply to this email."​</a:t>
            </a:r>
            <a:endParaRPr lang="en-US" sz="1500" dirty="0"/>
          </a:p>
          <a:p>
            <a:pPr algn="l" marL="342900" indent="-342900">
              <a:lnSpc>
                <a:spcPts val="2300"/>
              </a:lnSpc>
              <a:buSzPct val="100000"/>
              <a:buChar char="•"/>
            </a:pPr>
            <a:r>
              <a:rPr lang="en-US" sz="1500" dirty="0">
                <a:solidFill>
                  <a:srgbClr val="C9C2C0"/>
                </a:solidFill>
                <a:latin typeface="Gelasio" pitchFamily="34" charset="0"/>
                <a:ea typeface="Gelasio" pitchFamily="34" charset="-122"/>
                <a:cs typeface="Gelasio" pitchFamily="34" charset="-120"/>
              </a:rPr>
              <a:t>Capability: Can combine concepts, rewrite tones, andgenerate unique content for every single user.​</a:t>
            </a:r>
            <a:endParaRPr lang="en-US" sz="1500" dirty="0"/>
          </a:p>
        </p:txBody>
      </p:sp>
      <p:sp>
        <p:nvSpPr>
          <p:cNvPr id="8" name="Text 5"/>
          <p:cNvSpPr/>
          <p:nvPr/>
        </p:nvSpPr>
        <p:spPr>
          <a:xfrm>
            <a:off x="688062" y="5980612"/>
            <a:ext cx="7767876" cy="293489"/>
          </a:xfrm>
          <a:prstGeom prst="rect">
            <a:avLst/>
          </a:prstGeom>
          <a:noFill/>
          <a:ln/>
        </p:spPr>
        <p:txBody>
          <a:bodyPr wrap="none" lIns="0" tIns="0" rIns="0" bIns="0" rtlCol="0" anchor="t"/>
          <a:lstStyle/>
          <a:p>
            <a:pPr algn="l" indent="0" marL="0">
              <a:lnSpc>
                <a:spcPts val="2300"/>
              </a:lnSpc>
              <a:buNone/>
            </a:pPr>
            <a:endParaRPr lang="en-US" sz="1500" dirty="0"/>
          </a:p>
        </p:txBody>
      </p:sp>
      <p:sp>
        <p:nvSpPr>
          <p:cNvPr id="9" name="Text 6"/>
          <p:cNvSpPr/>
          <p:nvPr/>
        </p:nvSpPr>
        <p:spPr>
          <a:xfrm>
            <a:off x="688062" y="6465792"/>
            <a:ext cx="7767876" cy="586978"/>
          </a:xfrm>
          <a:prstGeom prst="rect">
            <a:avLst/>
          </a:prstGeom>
          <a:noFill/>
          <a:ln/>
        </p:spPr>
        <p:txBody>
          <a:bodyPr wrap="square" lIns="0" tIns="0" rIns="0" bIns="0" rtlCol="0" anchor="t"/>
          <a:lstStyle/>
          <a:p>
            <a:pPr algn="l" indent="0" marL="0">
              <a:lnSpc>
                <a:spcPts val="2300"/>
              </a:lnSpc>
              <a:buNone/>
            </a:pPr>
            <a:r>
              <a:rPr lang="en-US" sz="1500" b="1" dirty="0">
                <a:solidFill>
                  <a:srgbClr val="FFFFFF"/>
                </a:solidFill>
                <a:latin typeface="Gelasio" pitchFamily="34" charset="0"/>
                <a:ea typeface="Gelasio" pitchFamily="34" charset="-122"/>
                <a:cs typeface="Gelasio" pitchFamily="34" charset="-120"/>
              </a:rPr>
              <a:t>Why It Matters: This allows for "Zero-Shot" creation—doing tasks it was never specifically programmed to do.</a:t>
            </a:r>
            <a:pPr algn="l" indent="0" marL="0">
              <a:lnSpc>
                <a:spcPts val="2300"/>
              </a:lnSpc>
              <a:buNone/>
            </a:pPr>
            <a:r>
              <a:rPr lang="en-US" sz="1500" dirty="0">
                <a:solidFill>
                  <a:srgbClr val="C9C2C0"/>
                </a:solidFill>
                <a:latin typeface="Gelasio" pitchFamily="34" charset="0"/>
                <a:ea typeface="Gelasio" pitchFamily="34" charset="-122"/>
                <a:cs typeface="Gelasio" pitchFamily="34" charset="-120"/>
              </a:rPr>
              <a: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933926"/>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D8B6A4"/>
                </a:solidFill>
                <a:latin typeface="Gelasio" pitchFamily="34" charset="0"/>
                <a:ea typeface="Gelasio" pitchFamily="34" charset="-122"/>
                <a:cs typeface="Gelasio" pitchFamily="34" charset="-120"/>
              </a:rPr>
              <a:t>Role of LLM in Our Project</a:t>
            </a:r>
            <a:endParaRPr lang="en-US" sz="4450" dirty="0"/>
          </a:p>
        </p:txBody>
      </p:sp>
      <p:sp>
        <p:nvSpPr>
          <p:cNvPr id="4" name="Text 1"/>
          <p:cNvSpPr/>
          <p:nvPr/>
        </p:nvSpPr>
        <p:spPr>
          <a:xfrm>
            <a:off x="793790" y="2691646"/>
            <a:ext cx="7556421" cy="362903"/>
          </a:xfrm>
          <a:prstGeom prst="rect">
            <a:avLst/>
          </a:prstGeom>
          <a:noFill/>
          <a:ln/>
        </p:spPr>
        <p:txBody>
          <a:bodyPr wrap="none" lIns="0" tIns="0" rIns="0" bIns="0" rtlCol="0" anchor="t"/>
          <a:lstStyle/>
          <a:p>
            <a:pPr algn="l" indent="0" marL="0">
              <a:lnSpc>
                <a:spcPts val="2850"/>
              </a:lnSpc>
              <a:buNone/>
            </a:pPr>
            <a:r>
              <a:rPr lang="en-US" sz="1750" b="1" dirty="0">
                <a:solidFill>
                  <a:srgbClr val="C9C2C0"/>
                </a:solidFill>
                <a:latin typeface="Gelasio" pitchFamily="34" charset="0"/>
                <a:ea typeface="Gelasio" pitchFamily="34" charset="-122"/>
                <a:cs typeface="Gelasio" pitchFamily="34" charset="-120"/>
              </a:rPr>
              <a:t>LLM as the Core Engine of Personalized Media System</a:t>
            </a:r>
            <a:pPr algn="l" indent="0" marL="0">
              <a:lnSpc>
                <a:spcPts val="2850"/>
              </a:lnSpc>
              <a:buNone/>
            </a:pPr>
            <a:r>
              <a:rPr lang="en-US" sz="1750" dirty="0">
                <a:solidFill>
                  <a:srgbClr val="C9C2C0"/>
                </a:solidFill>
                <a:latin typeface="Gelasio" pitchFamily="34" charset="0"/>
                <a:ea typeface="Gelasio" pitchFamily="34" charset="-122"/>
                <a:cs typeface="Gelasio" pitchFamily="34" charset="-120"/>
              </a:rPr>
              <a:t>​</a:t>
            </a:r>
            <a:endParaRPr lang="en-US" sz="1750" dirty="0"/>
          </a:p>
        </p:txBody>
      </p:sp>
      <p:sp>
        <p:nvSpPr>
          <p:cNvPr id="5" name="Text 2"/>
          <p:cNvSpPr/>
          <p:nvPr/>
        </p:nvSpPr>
        <p:spPr>
          <a:xfrm>
            <a:off x="793790" y="3309699"/>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C9C2C0"/>
                </a:solidFill>
                <a:latin typeface="Gelasio" pitchFamily="34" charset="0"/>
                <a:ea typeface="Gelasio" pitchFamily="34" charset="-122"/>
                <a:cs typeface="Gelasio" pitchFamily="34" charset="-120"/>
              </a:rPr>
              <a:t>In Our Project, LLM Will:​</a:t>
            </a:r>
            <a:endParaRPr lang="en-US" sz="1750" dirty="0"/>
          </a:p>
        </p:txBody>
      </p:sp>
      <p:sp>
        <p:nvSpPr>
          <p:cNvPr id="6" name="Text 3"/>
          <p:cNvSpPr/>
          <p:nvPr/>
        </p:nvSpPr>
        <p:spPr>
          <a:xfrm>
            <a:off x="793790" y="3927753"/>
            <a:ext cx="7556421" cy="1814623"/>
          </a:xfrm>
          <a:prstGeom prst="rect">
            <a:avLst/>
          </a:prstGeom>
          <a:noFill/>
          <a:ln/>
        </p:spPr>
        <p:txBody>
          <a:bodyPr wrap="square" lIns="0" tIns="0" rIns="0" bIns="0" rtlCol="0" anchor="t"/>
          <a:lstStyle/>
          <a:p>
            <a:pPr algn="l" marL="342900" indent="-342900">
              <a:lnSpc>
                <a:spcPts val="2850"/>
              </a:lnSpc>
              <a:buSzPct val="100000"/>
              <a:buFont typeface="+mj-lt"/>
              <a:buAutoNum type="arabicPeriod" startAt="1"/>
            </a:pPr>
            <a:r>
              <a:rPr lang="en-US" sz="1750" dirty="0">
                <a:solidFill>
                  <a:srgbClr val="C9C2C0"/>
                </a:solidFill>
                <a:latin typeface="Gelasio" pitchFamily="34" charset="0"/>
                <a:ea typeface="Gelasio" pitchFamily="34" charset="-122"/>
                <a:cs typeface="Gelasio" pitchFamily="34" charset="-120"/>
              </a:rPr>
              <a:t>Understand user preferences​</a:t>
            </a:r>
            <a:endParaRPr lang="en-US" sz="1750" dirty="0"/>
          </a:p>
          <a:p>
            <a:pPr algn="l" marL="342900" indent="-342900">
              <a:lnSpc>
                <a:spcPts val="2850"/>
              </a:lnSpc>
              <a:buSzPct val="100000"/>
              <a:buFont typeface="+mj-lt"/>
              <a:buAutoNum type="arabicPeriod" startAt="2"/>
            </a:pPr>
            <a:r>
              <a:rPr lang="en-US" sz="1750" dirty="0">
                <a:solidFill>
                  <a:srgbClr val="C9C2C0"/>
                </a:solidFill>
                <a:latin typeface="Gelasio" pitchFamily="34" charset="0"/>
                <a:ea typeface="Gelasio" pitchFamily="34" charset="-122"/>
                <a:cs typeface="Gelasio" pitchFamily="34" charset="-120"/>
              </a:rPr>
              <a:t>Generate personalized content​</a:t>
            </a:r>
            <a:endParaRPr lang="en-US" sz="1750" dirty="0"/>
          </a:p>
          <a:p>
            <a:pPr algn="l" marL="342900" indent="-342900">
              <a:lnSpc>
                <a:spcPts val="2850"/>
              </a:lnSpc>
              <a:buSzPct val="100000"/>
              <a:buFont typeface="+mj-lt"/>
              <a:buAutoNum type="arabicPeriod" startAt="3"/>
            </a:pPr>
            <a:r>
              <a:rPr lang="en-US" sz="1750" dirty="0">
                <a:solidFill>
                  <a:srgbClr val="C9C2C0"/>
                </a:solidFill>
                <a:latin typeface="Gelasio" pitchFamily="34" charset="0"/>
                <a:ea typeface="Gelasio" pitchFamily="34" charset="-122"/>
                <a:cs typeface="Gelasio" pitchFamily="34" charset="-120"/>
              </a:rPr>
              <a:t>Adjust tone and style​</a:t>
            </a:r>
            <a:endParaRPr lang="en-US" sz="1750" dirty="0"/>
          </a:p>
          <a:p>
            <a:pPr algn="l" marL="342900" indent="-342900">
              <a:lnSpc>
                <a:spcPts val="2850"/>
              </a:lnSpc>
              <a:buSzPct val="100000"/>
              <a:buFont typeface="+mj-lt"/>
              <a:buAutoNum type="arabicPeriod" startAt="4"/>
            </a:pPr>
            <a:r>
              <a:rPr lang="en-US" sz="1750" dirty="0">
                <a:solidFill>
                  <a:srgbClr val="C9C2C0"/>
                </a:solidFill>
                <a:latin typeface="Gelasio" pitchFamily="34" charset="0"/>
                <a:ea typeface="Gelasio" pitchFamily="34" charset="-122"/>
                <a:cs typeface="Gelasio" pitchFamily="34" charset="-120"/>
              </a:rPr>
              <a:t>Create platform-specific content​</a:t>
            </a:r>
            <a:endParaRPr lang="en-US" sz="1750" dirty="0"/>
          </a:p>
          <a:p>
            <a:pPr algn="l" marL="342900" indent="-342900">
              <a:lnSpc>
                <a:spcPts val="2850"/>
              </a:lnSpc>
              <a:buSzPct val="100000"/>
              <a:buFont typeface="+mj-lt"/>
              <a:buAutoNum type="arabicPeriod" startAt="5"/>
            </a:pPr>
            <a:r>
              <a:rPr lang="en-US" sz="1750" dirty="0">
                <a:solidFill>
                  <a:srgbClr val="C9C2C0"/>
                </a:solidFill>
                <a:latin typeface="Gelasio" pitchFamily="34" charset="0"/>
                <a:ea typeface="Gelasio" pitchFamily="34" charset="-122"/>
                <a:cs typeface="Gelasio" pitchFamily="34" charset="-120"/>
              </a:rPr>
              <a:t>Summarize or rewrite content​</a:t>
            </a:r>
            <a:endParaRPr lang="en-US" sz="1750" dirty="0"/>
          </a:p>
        </p:txBody>
      </p:sp>
      <p:sp>
        <p:nvSpPr>
          <p:cNvPr id="7" name="Text 4"/>
          <p:cNvSpPr/>
          <p:nvPr/>
        </p:nvSpPr>
        <p:spPr>
          <a:xfrm>
            <a:off x="793790" y="5997527"/>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C9C2C0"/>
                </a:solidFill>
                <a:latin typeface="Gelasio" pitchFamily="34" charset="0"/>
                <a:ea typeface="Gelasio" pitchFamily="34" charset="-122"/>
                <a:cs typeface="Gelasio" pitchFamily="34" charset="-120"/>
              </a:rPr>
              <a:t>​</a:t>
            </a:r>
            <a:endParaRPr lang="en-US" sz="1750" dirty="0"/>
          </a:p>
        </p:txBody>
      </p:sp>
      <p:sp>
        <p:nvSpPr>
          <p:cNvPr id="8" name="Text 5"/>
          <p:cNvSpPr/>
          <p:nvPr/>
        </p:nvSpPr>
        <p:spPr>
          <a:xfrm>
            <a:off x="793790" y="6615580"/>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C9C2C0"/>
                </a:solidFill>
                <a:latin typeface="Gelasio" pitchFamily="34" charset="0"/>
                <a:ea typeface="Gelasio" pitchFamily="34" charset="-122"/>
                <a:cs typeface="Gelasio" pitchFamily="34" charset="-120"/>
              </a:rPr>
              <a:t>Simple Flow: User Input → Prompt → LLM → Personalized Output.​</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939052"/>
            <a:ext cx="11319391" cy="708779"/>
          </a:xfrm>
          <a:prstGeom prst="rect">
            <a:avLst/>
          </a:prstGeom>
          <a:noFill/>
          <a:ln/>
        </p:spPr>
        <p:txBody>
          <a:bodyPr wrap="none" lIns="0" tIns="0" rIns="0" bIns="0" rtlCol="0" anchor="t"/>
          <a:lstStyle/>
          <a:p>
            <a:pPr algn="l" indent="0" marL="0">
              <a:lnSpc>
                <a:spcPts val="5550"/>
              </a:lnSpc>
              <a:buNone/>
            </a:pPr>
            <a:r>
              <a:rPr lang="en-US" sz="4450" dirty="0">
                <a:solidFill>
                  <a:srgbClr val="D8B6A4"/>
                </a:solidFill>
                <a:latin typeface="Gelasio" pitchFamily="34" charset="0"/>
                <a:ea typeface="Gelasio" pitchFamily="34" charset="-122"/>
                <a:cs typeface="Gelasio" pitchFamily="34" charset="-120"/>
              </a:rPr>
              <a:t>The Key Breakthrough: Meaning Over Words</a:t>
            </a:r>
            <a:endParaRPr lang="en-US" sz="4450" dirty="0"/>
          </a:p>
        </p:txBody>
      </p:sp>
      <p:sp>
        <p:nvSpPr>
          <p:cNvPr id="3" name="Shape 1"/>
          <p:cNvSpPr/>
          <p:nvPr/>
        </p:nvSpPr>
        <p:spPr>
          <a:xfrm>
            <a:off x="630436" y="2987993"/>
            <a:ext cx="6571417" cy="3302556"/>
          </a:xfrm>
          <a:prstGeom prst="roundRect">
            <a:avLst>
              <a:gd name="adj" fmla="val 1030"/>
            </a:avLst>
          </a:prstGeom>
          <a:solidFill>
            <a:srgbClr val="C49F8C"/>
          </a:solidFill>
          <a:ln/>
        </p:spPr>
      </p:sp>
      <p:sp>
        <p:nvSpPr>
          <p:cNvPr id="4" name="Text 2"/>
          <p:cNvSpPr/>
          <p:nvPr/>
        </p:nvSpPr>
        <p:spPr>
          <a:xfrm>
            <a:off x="857250" y="3214807"/>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000000"/>
                </a:solidFill>
                <a:latin typeface="Gelasio" pitchFamily="34" charset="0"/>
                <a:ea typeface="Gelasio" pitchFamily="34" charset="-122"/>
                <a:cs typeface="Gelasio" pitchFamily="34" charset="-120"/>
              </a:rPr>
              <a:t>Core Principle</a:t>
            </a:r>
            <a:endParaRPr lang="en-US" sz="2650" dirty="0"/>
          </a:p>
        </p:txBody>
      </p:sp>
      <p:sp>
        <p:nvSpPr>
          <p:cNvPr id="5" name="Text 3"/>
          <p:cNvSpPr/>
          <p:nvPr/>
        </p:nvSpPr>
        <p:spPr>
          <a:xfrm>
            <a:off x="857250" y="3866912"/>
            <a:ext cx="6117788" cy="725805"/>
          </a:xfrm>
          <a:prstGeom prst="rect">
            <a:avLst/>
          </a:prstGeom>
          <a:noFill/>
          <a:ln/>
        </p:spPr>
        <p:txBody>
          <a:bodyPr wrap="square" lIns="0" tIns="0" rIns="0" bIns="0" rtlCol="0" anchor="t"/>
          <a:lstStyle/>
          <a:p>
            <a:pPr algn="l" indent="0" marL="0">
              <a:lnSpc>
                <a:spcPts val="2850"/>
              </a:lnSpc>
              <a:buNone/>
            </a:pPr>
            <a:r>
              <a:rPr lang="en-US" sz="1750" b="1" dirty="0">
                <a:solidFill>
                  <a:srgbClr val="000000"/>
                </a:solidFill>
                <a:latin typeface="Gelasio" pitchFamily="34" charset="0"/>
                <a:ea typeface="Gelasio" pitchFamily="34" charset="-122"/>
                <a:cs typeface="Gelasio" pitchFamily="34" charset="-120"/>
              </a:rPr>
              <a:t>LLMs do not manipulate sentences directly—they operate on meaning.</a:t>
            </a:r>
            <a:endParaRPr lang="en-US" sz="1750" dirty="0"/>
          </a:p>
        </p:txBody>
      </p:sp>
      <p:sp>
        <p:nvSpPr>
          <p:cNvPr id="6" name="Text 4"/>
          <p:cNvSpPr/>
          <p:nvPr/>
        </p:nvSpPr>
        <p:spPr>
          <a:xfrm>
            <a:off x="857250" y="4796790"/>
            <a:ext cx="6117788" cy="725805"/>
          </a:xfrm>
          <a:prstGeom prst="rect">
            <a:avLst/>
          </a:prstGeom>
          <a:noFill/>
          <a:ln/>
        </p:spPr>
        <p:txBody>
          <a:bodyPr wrap="square" lIns="0" tIns="0" rIns="0" bIns="0" rtlCol="0" anchor="t"/>
          <a:lstStyle/>
          <a:p>
            <a:pPr algn="l" indent="0" marL="0">
              <a:lnSpc>
                <a:spcPts val="2850"/>
              </a:lnSpc>
              <a:buNone/>
            </a:pPr>
            <a:r>
              <a:rPr lang="en-US" sz="1750" dirty="0">
                <a:solidFill>
                  <a:srgbClr val="000000"/>
                </a:solidFill>
                <a:latin typeface="Gelasio" pitchFamily="34" charset="0"/>
                <a:ea typeface="Gelasio" pitchFamily="34" charset="-122"/>
                <a:cs typeface="Gelasio" pitchFamily="34" charset="-120"/>
              </a:rPr>
              <a:t>This fundamental insight separates modern AI from simple text manipulation tools.</a:t>
            </a:r>
            <a:endParaRPr lang="en-US" sz="1750" dirty="0"/>
          </a:p>
        </p:txBody>
      </p:sp>
      <p:sp>
        <p:nvSpPr>
          <p:cNvPr id="7" name="Text 5"/>
          <p:cNvSpPr/>
          <p:nvPr/>
        </p:nvSpPr>
        <p:spPr>
          <a:xfrm>
            <a:off x="7599521" y="321480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D8B6A4"/>
                </a:solidFill>
                <a:latin typeface="Gelasio" pitchFamily="34" charset="0"/>
                <a:ea typeface="Gelasio" pitchFamily="34" charset="-122"/>
                <a:cs typeface="Gelasio" pitchFamily="34" charset="-120"/>
              </a:rPr>
              <a:t>What This Means</a:t>
            </a:r>
            <a:endParaRPr lang="en-US" sz="2200" dirty="0"/>
          </a:p>
        </p:txBody>
      </p:sp>
      <p:sp>
        <p:nvSpPr>
          <p:cNvPr id="8" name="Text 6"/>
          <p:cNvSpPr/>
          <p:nvPr/>
        </p:nvSpPr>
        <p:spPr>
          <a:xfrm>
            <a:off x="7599521" y="3795951"/>
            <a:ext cx="6244709" cy="217754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C9C2C0"/>
                </a:solidFill>
                <a:latin typeface="Gelasio" pitchFamily="34" charset="0"/>
                <a:ea typeface="Gelasio" pitchFamily="34" charset="-122"/>
                <a:cs typeface="Gelasio" pitchFamily="34" charset="-120"/>
              </a:rPr>
              <a:t>Different sentences can express the same intent or idea</a:t>
            </a:r>
            <a:endParaRPr lang="en-US" sz="1750" dirty="0"/>
          </a:p>
          <a:p>
            <a:pPr algn="l" marL="342900" indent="-342900">
              <a:lnSpc>
                <a:spcPts val="2850"/>
              </a:lnSpc>
              <a:buSzPct val="100000"/>
              <a:buChar char="•"/>
            </a:pPr>
            <a:r>
              <a:rPr lang="en-US" sz="1750" dirty="0">
                <a:solidFill>
                  <a:srgbClr val="C9C2C0"/>
                </a:solidFill>
                <a:latin typeface="Gelasio" pitchFamily="34" charset="0"/>
                <a:ea typeface="Gelasio" pitchFamily="34" charset="-122"/>
                <a:cs typeface="Gelasio" pitchFamily="34" charset="-120"/>
              </a:rPr>
              <a:t>LLMs convert text into semantic (meaning-based) representations</a:t>
            </a:r>
            <a:endParaRPr lang="en-US" sz="1750" dirty="0"/>
          </a:p>
          <a:p>
            <a:pPr algn="l" marL="342900" indent="-342900">
              <a:lnSpc>
                <a:spcPts val="2850"/>
              </a:lnSpc>
              <a:buSzPct val="100000"/>
              <a:buChar char="•"/>
            </a:pPr>
            <a:r>
              <a:rPr lang="en-US" sz="1750" dirty="0">
                <a:solidFill>
                  <a:srgbClr val="C9C2C0"/>
                </a:solidFill>
                <a:latin typeface="Gelasio" pitchFamily="34" charset="0"/>
                <a:ea typeface="Gelasio" pitchFamily="34" charset="-122"/>
                <a:cs typeface="Gelasio" pitchFamily="34" charset="-120"/>
              </a:rPr>
              <a:t>The core meaning is preserved while format, tone, and style adapt</a:t>
            </a:r>
            <a:endParaRPr lang="en-US" sz="1750" dirty="0"/>
          </a:p>
          <a:p>
            <a:pPr algn="l" marL="342900" indent="-342900">
              <a:lnSpc>
                <a:spcPts val="2850"/>
              </a:lnSpc>
              <a:buSzPct val="100000"/>
              <a:buChar char="•"/>
            </a:pPr>
            <a:r>
              <a:rPr lang="en-US" sz="1750" dirty="0">
                <a:solidFill>
                  <a:srgbClr val="C9C2C0"/>
                </a:solidFill>
                <a:latin typeface="Gelasio" pitchFamily="34" charset="0"/>
                <a:ea typeface="Gelasio" pitchFamily="34" charset="-122"/>
                <a:cs typeface="Gelasio" pitchFamily="34" charset="-120"/>
              </a:rPr>
              <a:t>Context determines how meaning is expressed in output</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63548" y="581978"/>
            <a:ext cx="7663934" cy="593288"/>
          </a:xfrm>
          <a:prstGeom prst="rect">
            <a:avLst/>
          </a:prstGeom>
          <a:noFill/>
          <a:ln/>
        </p:spPr>
        <p:txBody>
          <a:bodyPr wrap="none" lIns="0" tIns="0" rIns="0" bIns="0" rtlCol="0" anchor="t"/>
          <a:lstStyle/>
          <a:p>
            <a:pPr algn="l" indent="0" marL="0">
              <a:lnSpc>
                <a:spcPts val="4650"/>
              </a:lnSpc>
              <a:buNone/>
            </a:pPr>
            <a:r>
              <a:rPr lang="en-US" sz="3700" dirty="0">
                <a:solidFill>
                  <a:srgbClr val="D8B6A4"/>
                </a:solidFill>
                <a:latin typeface="Gelasio" pitchFamily="34" charset="0"/>
                <a:ea typeface="Gelasio" pitchFamily="34" charset="-122"/>
                <a:cs typeface="Gelasio" pitchFamily="34" charset="-120"/>
              </a:rPr>
              <a:t>From One Idea to Many Expressions</a:t>
            </a:r>
            <a:endParaRPr lang="en-US" sz="3700" dirty="0"/>
          </a:p>
        </p:txBody>
      </p:sp>
      <p:pic>
        <p:nvPicPr>
          <p:cNvPr id="3" name="Image 0" descr="preencoded.png">    </p:cNvPr>
          <p:cNvPicPr>
            <a:picLocks noChangeAspect="1"/>
          </p:cNvPicPr>
          <p:nvPr/>
        </p:nvPicPr>
        <p:blipFill>
          <a:blip r:embed="rId1"/>
          <a:stretch>
            <a:fillRect/>
          </a:stretch>
        </p:blipFill>
        <p:spPr>
          <a:xfrm>
            <a:off x="763548" y="1493163"/>
            <a:ext cx="949404" cy="1139309"/>
          </a:xfrm>
          <a:prstGeom prst="rect">
            <a:avLst/>
          </a:prstGeom>
        </p:spPr>
      </p:pic>
      <p:sp>
        <p:nvSpPr>
          <p:cNvPr id="4" name="Text 1"/>
          <p:cNvSpPr/>
          <p:nvPr/>
        </p:nvSpPr>
        <p:spPr>
          <a:xfrm>
            <a:off x="1871901" y="1682948"/>
            <a:ext cx="2373749" cy="296704"/>
          </a:xfrm>
          <a:prstGeom prst="rect">
            <a:avLst/>
          </a:prstGeom>
          <a:noFill/>
          <a:ln/>
        </p:spPr>
        <p:txBody>
          <a:bodyPr wrap="none" lIns="0" tIns="0" rIns="0" bIns="0" rtlCol="0" anchor="t"/>
          <a:lstStyle/>
          <a:p>
            <a:pPr algn="l" indent="0" marL="0">
              <a:lnSpc>
                <a:spcPts val="2300"/>
              </a:lnSpc>
              <a:buNone/>
            </a:pPr>
            <a:r>
              <a:rPr lang="en-US" sz="1850" dirty="0">
                <a:solidFill>
                  <a:srgbClr val="C9C2C0"/>
                </a:solidFill>
                <a:latin typeface="Gelasio" pitchFamily="34" charset="0"/>
                <a:ea typeface="Gelasio" pitchFamily="34" charset="-122"/>
                <a:cs typeface="Gelasio" pitchFamily="34" charset="-120"/>
              </a:rPr>
              <a:t>Input Idea</a:t>
            </a:r>
            <a:endParaRPr lang="en-US" sz="1850" dirty="0"/>
          </a:p>
        </p:txBody>
      </p:sp>
      <p:sp>
        <p:nvSpPr>
          <p:cNvPr id="5" name="Text 2"/>
          <p:cNvSpPr/>
          <p:nvPr/>
        </p:nvSpPr>
        <p:spPr>
          <a:xfrm>
            <a:off x="1871901" y="2075021"/>
            <a:ext cx="11994833" cy="279083"/>
          </a:xfrm>
          <a:prstGeom prst="rect">
            <a:avLst/>
          </a:prstGeom>
          <a:noFill/>
          <a:ln/>
        </p:spPr>
        <p:txBody>
          <a:bodyPr wrap="none" lIns="0" tIns="0" rIns="0" bIns="0" rtlCol="0" anchor="t"/>
          <a:lstStyle/>
          <a:p>
            <a:pPr algn="l" indent="0" marL="0">
              <a:lnSpc>
                <a:spcPts val="2150"/>
              </a:lnSpc>
              <a:buNone/>
            </a:pPr>
            <a:r>
              <a:rPr lang="en-US" sz="1450" dirty="0">
                <a:solidFill>
                  <a:srgbClr val="C9C2C0"/>
                </a:solidFill>
                <a:latin typeface="Gelasio" pitchFamily="34" charset="0"/>
                <a:ea typeface="Gelasio" pitchFamily="34" charset="-122"/>
                <a:cs typeface="Gelasio" pitchFamily="34" charset="-120"/>
              </a:rPr>
              <a:t>"We conducted a technical workshop"</a:t>
            </a:r>
            <a:endParaRPr lang="en-US" sz="1450" dirty="0"/>
          </a:p>
        </p:txBody>
      </p:sp>
      <p:pic>
        <p:nvPicPr>
          <p:cNvPr id="6" name="Image 1" descr="preencoded.png">    </p:cNvPr>
          <p:cNvPicPr>
            <a:picLocks noChangeAspect="1"/>
          </p:cNvPicPr>
          <p:nvPr/>
        </p:nvPicPr>
        <p:blipFill>
          <a:blip r:embed="rId2"/>
          <a:stretch>
            <a:fillRect/>
          </a:stretch>
        </p:blipFill>
        <p:spPr>
          <a:xfrm>
            <a:off x="763548" y="2632472"/>
            <a:ext cx="949404" cy="1139309"/>
          </a:xfrm>
          <a:prstGeom prst="rect">
            <a:avLst/>
          </a:prstGeom>
        </p:spPr>
      </p:pic>
      <p:sp>
        <p:nvSpPr>
          <p:cNvPr id="7" name="Text 3"/>
          <p:cNvSpPr/>
          <p:nvPr/>
        </p:nvSpPr>
        <p:spPr>
          <a:xfrm>
            <a:off x="1871901" y="2822258"/>
            <a:ext cx="2373749" cy="296704"/>
          </a:xfrm>
          <a:prstGeom prst="rect">
            <a:avLst/>
          </a:prstGeom>
          <a:noFill/>
          <a:ln/>
        </p:spPr>
        <p:txBody>
          <a:bodyPr wrap="none" lIns="0" tIns="0" rIns="0" bIns="0" rtlCol="0" anchor="t"/>
          <a:lstStyle/>
          <a:p>
            <a:pPr algn="l" indent="0" marL="0">
              <a:lnSpc>
                <a:spcPts val="2300"/>
              </a:lnSpc>
              <a:buNone/>
            </a:pPr>
            <a:r>
              <a:rPr lang="en-US" sz="1850" dirty="0">
                <a:solidFill>
                  <a:srgbClr val="C9C2C0"/>
                </a:solidFill>
                <a:latin typeface="Gelasio" pitchFamily="34" charset="0"/>
                <a:ea typeface="Gelasio" pitchFamily="34" charset="-122"/>
                <a:cs typeface="Gelasio" pitchFamily="34" charset="-120"/>
              </a:rPr>
              <a:t>LinkedIn</a:t>
            </a:r>
            <a:endParaRPr lang="en-US" sz="1850" dirty="0"/>
          </a:p>
        </p:txBody>
      </p:sp>
      <p:sp>
        <p:nvSpPr>
          <p:cNvPr id="8" name="Text 4"/>
          <p:cNvSpPr/>
          <p:nvPr/>
        </p:nvSpPr>
        <p:spPr>
          <a:xfrm>
            <a:off x="1871901" y="3214330"/>
            <a:ext cx="11994833" cy="279083"/>
          </a:xfrm>
          <a:prstGeom prst="rect">
            <a:avLst/>
          </a:prstGeom>
          <a:noFill/>
          <a:ln/>
        </p:spPr>
        <p:txBody>
          <a:bodyPr wrap="none" lIns="0" tIns="0" rIns="0" bIns="0" rtlCol="0" anchor="t"/>
          <a:lstStyle/>
          <a:p>
            <a:pPr algn="l" indent="0" marL="0">
              <a:lnSpc>
                <a:spcPts val="2150"/>
              </a:lnSpc>
              <a:buNone/>
            </a:pPr>
            <a:r>
              <a:rPr lang="en-US" sz="1450" dirty="0">
                <a:solidFill>
                  <a:srgbClr val="C9C2C0"/>
                </a:solidFill>
                <a:latin typeface="Gelasio" pitchFamily="34" charset="0"/>
                <a:ea typeface="Gelasio" pitchFamily="34" charset="-122"/>
                <a:cs typeface="Gelasio" pitchFamily="34" charset="-120"/>
              </a:rPr>
              <a:t>"Excited to share insights from our recent technical workshop!"</a:t>
            </a:r>
            <a:endParaRPr lang="en-US" sz="1450" dirty="0"/>
          </a:p>
        </p:txBody>
      </p:sp>
      <p:pic>
        <p:nvPicPr>
          <p:cNvPr id="9" name="Image 2" descr="preencoded.png">    </p:cNvPr>
          <p:cNvPicPr>
            <a:picLocks noChangeAspect="1"/>
          </p:cNvPicPr>
          <p:nvPr/>
        </p:nvPicPr>
        <p:blipFill>
          <a:blip r:embed="rId3"/>
          <a:stretch>
            <a:fillRect/>
          </a:stretch>
        </p:blipFill>
        <p:spPr>
          <a:xfrm>
            <a:off x="763548" y="3771781"/>
            <a:ext cx="949404" cy="1139309"/>
          </a:xfrm>
          <a:prstGeom prst="rect">
            <a:avLst/>
          </a:prstGeom>
        </p:spPr>
      </p:pic>
      <p:sp>
        <p:nvSpPr>
          <p:cNvPr id="10" name="Text 5"/>
          <p:cNvSpPr/>
          <p:nvPr/>
        </p:nvSpPr>
        <p:spPr>
          <a:xfrm>
            <a:off x="1871901" y="3961567"/>
            <a:ext cx="2373749" cy="296704"/>
          </a:xfrm>
          <a:prstGeom prst="rect">
            <a:avLst/>
          </a:prstGeom>
          <a:noFill/>
          <a:ln/>
        </p:spPr>
        <p:txBody>
          <a:bodyPr wrap="none" lIns="0" tIns="0" rIns="0" bIns="0" rtlCol="0" anchor="t"/>
          <a:lstStyle/>
          <a:p>
            <a:pPr algn="l" indent="0" marL="0">
              <a:lnSpc>
                <a:spcPts val="2300"/>
              </a:lnSpc>
              <a:buNone/>
            </a:pPr>
            <a:r>
              <a:rPr lang="en-US" sz="1850" dirty="0">
                <a:solidFill>
                  <a:srgbClr val="C9C2C0"/>
                </a:solidFill>
                <a:latin typeface="Gelasio" pitchFamily="34" charset="0"/>
                <a:ea typeface="Gelasio" pitchFamily="34" charset="-122"/>
                <a:cs typeface="Gelasio" pitchFamily="34" charset="-120"/>
              </a:rPr>
              <a:t>Instagram</a:t>
            </a:r>
            <a:endParaRPr lang="en-US" sz="1850" dirty="0"/>
          </a:p>
        </p:txBody>
      </p:sp>
      <p:sp>
        <p:nvSpPr>
          <p:cNvPr id="11" name="Text 6"/>
          <p:cNvSpPr/>
          <p:nvPr/>
        </p:nvSpPr>
        <p:spPr>
          <a:xfrm>
            <a:off x="1871901" y="4353639"/>
            <a:ext cx="11994833" cy="286703"/>
          </a:xfrm>
          <a:prstGeom prst="rect">
            <a:avLst/>
          </a:prstGeom>
          <a:noFill/>
          <a:ln/>
        </p:spPr>
        <p:txBody>
          <a:bodyPr wrap="none" lIns="0" tIns="0" rIns="0" bIns="0" rtlCol="0" anchor="t"/>
          <a:lstStyle/>
          <a:p>
            <a:pPr algn="l" indent="0" marL="0">
              <a:lnSpc>
                <a:spcPts val="2150"/>
              </a:lnSpc>
              <a:buNone/>
            </a:pPr>
            <a:r>
              <a:rPr lang="en-US" sz="1450" dirty="0">
                <a:solidFill>
                  <a:srgbClr val="C9C2C0"/>
                </a:solidFill>
                <a:latin typeface="Gelasio" pitchFamily="34" charset="0"/>
                <a:ea typeface="Gelasio" pitchFamily="34" charset="-122"/>
                <a:cs typeface="Gelasio" pitchFamily="34" charset="-120"/>
              </a:rPr>
              <a:t>"Workshop vibes </a:t>
            </a:r>
            <a:pPr algn="l" indent="0" marL="0">
              <a:lnSpc>
                <a:spcPts val="2150"/>
              </a:lnSpc>
              <a:buNone/>
            </a:pPr>
            <a:r>
              <a:rPr lang="en-US" sz="1450" dirty="0">
                <a:solidFill>
                  <a:srgbClr val="000000"/>
                </a:solidFill>
                <a:latin typeface="Gelasio" pitchFamily="34" charset="0"/>
                <a:ea typeface="Gelasio" pitchFamily="34" charset="-122"/>
                <a:cs typeface="Gelasio" pitchFamily="34" charset="-120"/>
              </a:rPr>
              <a:t>✨</a:t>
            </a:r>
            <a:pPr algn="l" indent="0" marL="0">
              <a:lnSpc>
                <a:spcPts val="2150"/>
              </a:lnSpc>
              <a:buNone/>
            </a:pPr>
            <a:r>
              <a:rPr lang="en-US" sz="1450" dirty="0">
                <a:solidFill>
                  <a:srgbClr val="C9C2C0"/>
                </a:solidFill>
                <a:latin typeface="Gelasio" pitchFamily="34" charset="0"/>
                <a:ea typeface="Gelasio" pitchFamily="34" charset="-122"/>
                <a:cs typeface="Gelasio" pitchFamily="34" charset="-120"/>
              </a:rPr>
              <a:t> Teaching tech today!"</a:t>
            </a:r>
            <a:endParaRPr lang="en-US" sz="1450" dirty="0"/>
          </a:p>
        </p:txBody>
      </p:sp>
      <p:pic>
        <p:nvPicPr>
          <p:cNvPr id="12" name="Image 3" descr="preencoded.png">    </p:cNvPr>
          <p:cNvPicPr>
            <a:picLocks noChangeAspect="1"/>
          </p:cNvPicPr>
          <p:nvPr/>
        </p:nvPicPr>
        <p:blipFill>
          <a:blip r:embed="rId4"/>
          <a:stretch>
            <a:fillRect/>
          </a:stretch>
        </p:blipFill>
        <p:spPr>
          <a:xfrm>
            <a:off x="763548" y="4911090"/>
            <a:ext cx="949404" cy="1139309"/>
          </a:xfrm>
          <a:prstGeom prst="rect">
            <a:avLst/>
          </a:prstGeom>
        </p:spPr>
      </p:pic>
      <p:sp>
        <p:nvSpPr>
          <p:cNvPr id="13" name="Text 7"/>
          <p:cNvSpPr/>
          <p:nvPr/>
        </p:nvSpPr>
        <p:spPr>
          <a:xfrm>
            <a:off x="1871901" y="5100876"/>
            <a:ext cx="2373749" cy="296704"/>
          </a:xfrm>
          <a:prstGeom prst="rect">
            <a:avLst/>
          </a:prstGeom>
          <a:noFill/>
          <a:ln/>
        </p:spPr>
        <p:txBody>
          <a:bodyPr wrap="none" lIns="0" tIns="0" rIns="0" bIns="0" rtlCol="0" anchor="t"/>
          <a:lstStyle/>
          <a:p>
            <a:pPr algn="l" indent="0" marL="0">
              <a:lnSpc>
                <a:spcPts val="2300"/>
              </a:lnSpc>
              <a:buNone/>
            </a:pPr>
            <a:r>
              <a:rPr lang="en-US" sz="1850" dirty="0">
                <a:solidFill>
                  <a:srgbClr val="C9C2C0"/>
                </a:solidFill>
                <a:latin typeface="Gelasio" pitchFamily="34" charset="0"/>
                <a:ea typeface="Gelasio" pitchFamily="34" charset="-122"/>
                <a:cs typeface="Gelasio" pitchFamily="34" charset="-120"/>
              </a:rPr>
              <a:t>Blog Intro</a:t>
            </a:r>
            <a:endParaRPr lang="en-US" sz="1850" dirty="0"/>
          </a:p>
        </p:txBody>
      </p:sp>
      <p:sp>
        <p:nvSpPr>
          <p:cNvPr id="14" name="Text 8"/>
          <p:cNvSpPr/>
          <p:nvPr/>
        </p:nvSpPr>
        <p:spPr>
          <a:xfrm>
            <a:off x="1871901" y="5492948"/>
            <a:ext cx="11994833" cy="279083"/>
          </a:xfrm>
          <a:prstGeom prst="rect">
            <a:avLst/>
          </a:prstGeom>
          <a:noFill/>
          <a:ln/>
        </p:spPr>
        <p:txBody>
          <a:bodyPr wrap="none" lIns="0" tIns="0" rIns="0" bIns="0" rtlCol="0" anchor="t"/>
          <a:lstStyle/>
          <a:p>
            <a:pPr algn="l" indent="0" marL="0">
              <a:lnSpc>
                <a:spcPts val="2150"/>
              </a:lnSpc>
              <a:buNone/>
            </a:pPr>
            <a:r>
              <a:rPr lang="en-US" sz="1450" dirty="0">
                <a:solidFill>
                  <a:srgbClr val="C9C2C0"/>
                </a:solidFill>
                <a:latin typeface="Gelasio" pitchFamily="34" charset="0"/>
                <a:ea typeface="Gelasio" pitchFamily="34" charset="-122"/>
                <a:cs typeface="Gelasio" pitchFamily="34" charset="-120"/>
              </a:rPr>
              <a:t>"Last week, our team hosted a comprehensive technical workshop..."</a:t>
            </a:r>
            <a:endParaRPr lang="en-US" sz="1450" dirty="0"/>
          </a:p>
        </p:txBody>
      </p:sp>
      <p:pic>
        <p:nvPicPr>
          <p:cNvPr id="15" name="Image 4" descr="preencoded.png">    </p:cNvPr>
          <p:cNvPicPr>
            <a:picLocks noChangeAspect="1"/>
          </p:cNvPicPr>
          <p:nvPr/>
        </p:nvPicPr>
        <p:blipFill>
          <a:blip r:embed="rId5"/>
          <a:stretch>
            <a:fillRect/>
          </a:stretch>
        </p:blipFill>
        <p:spPr>
          <a:xfrm>
            <a:off x="763548" y="6050399"/>
            <a:ext cx="949404" cy="1139309"/>
          </a:xfrm>
          <a:prstGeom prst="rect">
            <a:avLst/>
          </a:prstGeom>
        </p:spPr>
      </p:pic>
      <p:sp>
        <p:nvSpPr>
          <p:cNvPr id="16" name="Text 9"/>
          <p:cNvSpPr/>
          <p:nvPr/>
        </p:nvSpPr>
        <p:spPr>
          <a:xfrm>
            <a:off x="1871901" y="6240185"/>
            <a:ext cx="2373749" cy="296704"/>
          </a:xfrm>
          <a:prstGeom prst="rect">
            <a:avLst/>
          </a:prstGeom>
          <a:noFill/>
          <a:ln/>
        </p:spPr>
        <p:txBody>
          <a:bodyPr wrap="none" lIns="0" tIns="0" rIns="0" bIns="0" rtlCol="0" anchor="t"/>
          <a:lstStyle/>
          <a:p>
            <a:pPr algn="l" indent="0" marL="0">
              <a:lnSpc>
                <a:spcPts val="2300"/>
              </a:lnSpc>
              <a:buNone/>
            </a:pPr>
            <a:r>
              <a:rPr lang="en-US" sz="1850" dirty="0">
                <a:solidFill>
                  <a:srgbClr val="C9C2C0"/>
                </a:solidFill>
                <a:latin typeface="Gelasio" pitchFamily="34" charset="0"/>
                <a:ea typeface="Gelasio" pitchFamily="34" charset="-122"/>
                <a:cs typeface="Gelasio" pitchFamily="34" charset="-120"/>
              </a:rPr>
              <a:t>Email</a:t>
            </a:r>
            <a:endParaRPr lang="en-US" sz="1850" dirty="0"/>
          </a:p>
        </p:txBody>
      </p:sp>
      <p:sp>
        <p:nvSpPr>
          <p:cNvPr id="17" name="Text 10"/>
          <p:cNvSpPr/>
          <p:nvPr/>
        </p:nvSpPr>
        <p:spPr>
          <a:xfrm>
            <a:off x="1871901" y="6632258"/>
            <a:ext cx="11994833" cy="279083"/>
          </a:xfrm>
          <a:prstGeom prst="rect">
            <a:avLst/>
          </a:prstGeom>
          <a:noFill/>
          <a:ln/>
        </p:spPr>
        <p:txBody>
          <a:bodyPr wrap="none" lIns="0" tIns="0" rIns="0" bIns="0" rtlCol="0" anchor="t"/>
          <a:lstStyle/>
          <a:p>
            <a:pPr algn="l" indent="0" marL="0">
              <a:lnSpc>
                <a:spcPts val="2150"/>
              </a:lnSpc>
              <a:buNone/>
            </a:pPr>
            <a:r>
              <a:rPr lang="en-US" sz="1450" dirty="0">
                <a:solidFill>
                  <a:srgbClr val="C9C2C0"/>
                </a:solidFill>
                <a:latin typeface="Gelasio" pitchFamily="34" charset="0"/>
                <a:ea typeface="Gelasio" pitchFamily="34" charset="-122"/>
                <a:cs typeface="Gelasio" pitchFamily="34" charset="-120"/>
              </a:rPr>
              <a:t>"Dear colleagues, I'm writing to update you on our recent workshop..."</a:t>
            </a:r>
            <a:endParaRPr lang="en-US" sz="1450" dirty="0"/>
          </a:p>
        </p:txBody>
      </p:sp>
      <p:sp>
        <p:nvSpPr>
          <p:cNvPr id="18" name="Text 11"/>
          <p:cNvSpPr/>
          <p:nvPr/>
        </p:nvSpPr>
        <p:spPr>
          <a:xfrm>
            <a:off x="763548" y="7368540"/>
            <a:ext cx="13103185" cy="279083"/>
          </a:xfrm>
          <a:prstGeom prst="rect">
            <a:avLst/>
          </a:prstGeom>
          <a:noFill/>
          <a:ln/>
        </p:spPr>
        <p:txBody>
          <a:bodyPr wrap="none" lIns="0" tIns="0" rIns="0" bIns="0" rtlCol="0" anchor="t"/>
          <a:lstStyle/>
          <a:p>
            <a:pPr algn="l" indent="0" marL="0">
              <a:lnSpc>
                <a:spcPts val="2150"/>
              </a:lnSpc>
              <a:buNone/>
            </a:pPr>
            <a:r>
              <a:rPr lang="en-US" sz="1450" dirty="0">
                <a:solidFill>
                  <a:srgbClr val="C9C2C0"/>
                </a:solidFill>
                <a:latin typeface="Gelasio" pitchFamily="34" charset="0"/>
                <a:ea typeface="Gelasio" pitchFamily="34" charset="-122"/>
                <a:cs typeface="Gelasio" pitchFamily="34" charset="-120"/>
              </a:rPr>
              <a:t>Expression changes across platforms and contexts, but the </a:t>
            </a:r>
            <a:pPr algn="l" indent="0" marL="0">
              <a:lnSpc>
                <a:spcPts val="2150"/>
              </a:lnSpc>
              <a:buNone/>
            </a:pPr>
            <a:r>
              <a:rPr lang="en-US" sz="1450" b="1" dirty="0">
                <a:solidFill>
                  <a:srgbClr val="C9C2C0"/>
                </a:solidFill>
                <a:latin typeface="Gelasio" pitchFamily="34" charset="0"/>
                <a:ea typeface="Gelasio" pitchFamily="34" charset="-122"/>
                <a:cs typeface="Gelasio" pitchFamily="34" charset="-120"/>
              </a:rPr>
              <a:t>intent stays exactly the same</a:t>
            </a:r>
            <a:pPr algn="l" indent="0" marL="0">
              <a:lnSpc>
                <a:spcPts val="2150"/>
              </a:lnSpc>
              <a:buNone/>
            </a:pPr>
            <a:r>
              <a:rPr lang="en-US" sz="1450" dirty="0">
                <a:solidFill>
                  <a:srgbClr val="C9C2C0"/>
                </a:solidFill>
                <a:latin typeface="Gelasio" pitchFamily="34" charset="0"/>
                <a:ea typeface="Gelasio" pitchFamily="34" charset="-122"/>
                <a:cs typeface="Gelasio" pitchFamily="34" charset="-120"/>
              </a:rPr>
              <a:t>.</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87467" y="1240750"/>
            <a:ext cx="8088630" cy="613886"/>
          </a:xfrm>
          <a:prstGeom prst="rect">
            <a:avLst/>
          </a:prstGeom>
          <a:noFill/>
          <a:ln/>
        </p:spPr>
        <p:txBody>
          <a:bodyPr wrap="none" lIns="0" tIns="0" rIns="0" bIns="0" rtlCol="0" anchor="t"/>
          <a:lstStyle/>
          <a:p>
            <a:pPr algn="l" indent="0" marL="0">
              <a:lnSpc>
                <a:spcPts val="4800"/>
              </a:lnSpc>
              <a:buNone/>
            </a:pPr>
            <a:r>
              <a:rPr lang="en-US" sz="3850" dirty="0">
                <a:solidFill>
                  <a:srgbClr val="D8B6A4"/>
                </a:solidFill>
                <a:latin typeface="Gelasio" pitchFamily="34" charset="0"/>
                <a:ea typeface="Gelasio" pitchFamily="34" charset="-122"/>
                <a:cs typeface="Gelasio" pitchFamily="34" charset="-120"/>
              </a:rPr>
              <a:t>How Semantic Understanding Works</a:t>
            </a:r>
            <a:endParaRPr lang="en-US" sz="3850" dirty="0"/>
          </a:p>
        </p:txBody>
      </p:sp>
      <p:pic>
        <p:nvPicPr>
          <p:cNvPr id="3" name="Image 0" descr="preencoded.png">    </p:cNvPr>
          <p:cNvPicPr>
            <a:picLocks noChangeAspect="1"/>
          </p:cNvPicPr>
          <p:nvPr/>
        </p:nvPicPr>
        <p:blipFill>
          <a:blip r:embed="rId1"/>
          <a:stretch>
            <a:fillRect/>
          </a:stretch>
        </p:blipFill>
        <p:spPr>
          <a:xfrm>
            <a:off x="687467" y="3093244"/>
            <a:ext cx="8448318" cy="2912031"/>
          </a:xfrm>
          <a:prstGeom prst="rect">
            <a:avLst/>
          </a:prstGeom>
        </p:spPr>
      </p:pic>
      <p:sp>
        <p:nvSpPr>
          <p:cNvPr id="4" name="Text 1"/>
          <p:cNvSpPr/>
          <p:nvPr/>
        </p:nvSpPr>
        <p:spPr>
          <a:xfrm>
            <a:off x="5145612" y="3440444"/>
            <a:ext cx="1986679" cy="248335"/>
          </a:xfrm>
          <a:prstGeom prst="rect">
            <a:avLst/>
          </a:prstGeom>
          <a:noFill/>
          <a:ln/>
        </p:spPr>
        <p:txBody>
          <a:bodyPr wrap="none" lIns="0" tIns="0" rIns="0" bIns="0" rtlCol="0" anchor="t"/>
          <a:lstStyle/>
          <a:p>
            <a:pPr algn="l" indent="0" marL="0">
              <a:lnSpc>
                <a:spcPts val="1950"/>
              </a:lnSpc>
              <a:buNone/>
            </a:pPr>
            <a:r>
              <a:rPr lang="en-US" sz="1550" dirty="0">
                <a:solidFill>
                  <a:srgbClr val="C9C2C0"/>
                </a:solidFill>
                <a:latin typeface="Gelasio" pitchFamily="34" charset="0"/>
                <a:ea typeface="Gelasio" pitchFamily="34" charset="-122"/>
                <a:cs typeface="Gelasio" pitchFamily="34" charset="-120"/>
              </a:rPr>
              <a:t>Input Text</a:t>
            </a:r>
            <a:endParaRPr lang="en-US" sz="1550" dirty="0"/>
          </a:p>
        </p:txBody>
      </p:sp>
      <p:sp>
        <p:nvSpPr>
          <p:cNvPr id="5" name="Text 2"/>
          <p:cNvSpPr/>
          <p:nvPr/>
        </p:nvSpPr>
        <p:spPr>
          <a:xfrm>
            <a:off x="5145612" y="4049140"/>
            <a:ext cx="1986679" cy="248335"/>
          </a:xfrm>
          <a:prstGeom prst="rect">
            <a:avLst/>
          </a:prstGeom>
          <a:noFill/>
          <a:ln/>
        </p:spPr>
        <p:txBody>
          <a:bodyPr wrap="none" lIns="0" tIns="0" rIns="0" bIns="0" rtlCol="0" anchor="t"/>
          <a:lstStyle/>
          <a:p>
            <a:pPr algn="l" indent="0" marL="0">
              <a:lnSpc>
                <a:spcPts val="1950"/>
              </a:lnSpc>
              <a:buNone/>
            </a:pPr>
            <a:r>
              <a:rPr lang="en-US" sz="1550" dirty="0">
                <a:solidFill>
                  <a:srgbClr val="C9C2C0"/>
                </a:solidFill>
                <a:latin typeface="Gelasio" pitchFamily="34" charset="0"/>
                <a:ea typeface="Gelasio" pitchFamily="34" charset="-122"/>
                <a:cs typeface="Gelasio" pitchFamily="34" charset="-120"/>
              </a:rPr>
              <a:t>Vector Representation</a:t>
            </a:r>
            <a:endParaRPr lang="en-US" sz="1550" dirty="0"/>
          </a:p>
        </p:txBody>
      </p:sp>
      <p:sp>
        <p:nvSpPr>
          <p:cNvPr id="6" name="Text 3"/>
          <p:cNvSpPr/>
          <p:nvPr/>
        </p:nvSpPr>
        <p:spPr>
          <a:xfrm>
            <a:off x="5145612" y="4668460"/>
            <a:ext cx="1986679" cy="248335"/>
          </a:xfrm>
          <a:prstGeom prst="rect">
            <a:avLst/>
          </a:prstGeom>
          <a:noFill/>
          <a:ln/>
        </p:spPr>
        <p:txBody>
          <a:bodyPr wrap="none" lIns="0" tIns="0" rIns="0" bIns="0" rtlCol="0" anchor="t"/>
          <a:lstStyle/>
          <a:p>
            <a:pPr algn="l" indent="0" marL="0">
              <a:lnSpc>
                <a:spcPts val="1950"/>
              </a:lnSpc>
              <a:buNone/>
            </a:pPr>
            <a:r>
              <a:rPr lang="en-US" sz="1550" dirty="0">
                <a:solidFill>
                  <a:srgbClr val="C9C2C0"/>
                </a:solidFill>
                <a:latin typeface="Gelasio" pitchFamily="34" charset="0"/>
                <a:ea typeface="Gelasio" pitchFamily="34" charset="-122"/>
                <a:cs typeface="Gelasio" pitchFamily="34" charset="-120"/>
              </a:rPr>
              <a:t>Multiple Outputs</a:t>
            </a:r>
            <a:endParaRPr lang="en-US" sz="1550" dirty="0"/>
          </a:p>
        </p:txBody>
      </p:sp>
      <p:sp>
        <p:nvSpPr>
          <p:cNvPr id="7" name="Text 4"/>
          <p:cNvSpPr/>
          <p:nvPr/>
        </p:nvSpPr>
        <p:spPr>
          <a:xfrm>
            <a:off x="9622512" y="2279928"/>
            <a:ext cx="3071098" cy="306824"/>
          </a:xfrm>
          <a:prstGeom prst="rect">
            <a:avLst/>
          </a:prstGeom>
          <a:noFill/>
          <a:ln/>
        </p:spPr>
        <p:txBody>
          <a:bodyPr wrap="none" lIns="0" tIns="0" rIns="0" bIns="0" rtlCol="0" anchor="t"/>
          <a:lstStyle/>
          <a:p>
            <a:pPr algn="l" indent="0" marL="0">
              <a:lnSpc>
                <a:spcPts val="2400"/>
              </a:lnSpc>
              <a:buNone/>
            </a:pPr>
            <a:r>
              <a:rPr lang="en-US" sz="1900" dirty="0">
                <a:solidFill>
                  <a:srgbClr val="D8B6A4"/>
                </a:solidFill>
                <a:latin typeface="Gelasio" pitchFamily="34" charset="0"/>
                <a:ea typeface="Gelasio" pitchFamily="34" charset="-122"/>
                <a:cs typeface="Gelasio" pitchFamily="34" charset="-120"/>
              </a:rPr>
              <a:t>The Transformation Process</a:t>
            </a:r>
            <a:endParaRPr lang="en-US" sz="1900" dirty="0"/>
          </a:p>
        </p:txBody>
      </p:sp>
      <p:sp>
        <p:nvSpPr>
          <p:cNvPr id="8" name="Text 5"/>
          <p:cNvSpPr/>
          <p:nvPr/>
        </p:nvSpPr>
        <p:spPr>
          <a:xfrm>
            <a:off x="9622512" y="2756892"/>
            <a:ext cx="4327922" cy="1466255"/>
          </a:xfrm>
          <a:prstGeom prst="rect">
            <a:avLst/>
          </a:prstGeom>
          <a:noFill/>
          <a:ln/>
        </p:spPr>
        <p:txBody>
          <a:bodyPr wrap="square" lIns="0" tIns="0" rIns="0" bIns="0" rtlCol="0" anchor="t"/>
          <a:lstStyle/>
          <a:p>
            <a:pPr algn="l" indent="0" marL="0">
              <a:lnSpc>
                <a:spcPts val="2300"/>
              </a:lnSpc>
              <a:buNone/>
            </a:pPr>
            <a:r>
              <a:rPr lang="en-US" sz="1500" dirty="0">
                <a:solidFill>
                  <a:srgbClr val="C9C2C0"/>
                </a:solidFill>
                <a:latin typeface="Gelasio" pitchFamily="34" charset="0"/>
                <a:ea typeface="Gelasio" pitchFamily="34" charset="-122"/>
                <a:cs typeface="Gelasio" pitchFamily="34" charset="-120"/>
              </a:rPr>
              <a:t>LLMs convert text into </a:t>
            </a:r>
            <a:pPr algn="l" indent="0" marL="0">
              <a:lnSpc>
                <a:spcPts val="2300"/>
              </a:lnSpc>
              <a:buNone/>
            </a:pPr>
            <a:r>
              <a:rPr lang="en-US" sz="1500" b="1" dirty="0">
                <a:solidFill>
                  <a:srgbClr val="C9C2C0"/>
                </a:solidFill>
                <a:latin typeface="Gelasio" pitchFamily="34" charset="0"/>
                <a:ea typeface="Gelasio" pitchFamily="34" charset="-122"/>
                <a:cs typeface="Gelasio" pitchFamily="34" charset="-120"/>
              </a:rPr>
              <a:t>vector representations</a:t>
            </a:r>
            <a:pPr algn="l" indent="0" marL="0">
              <a:lnSpc>
                <a:spcPts val="2300"/>
              </a:lnSpc>
              <a:buNone/>
            </a:pPr>
            <a:r>
              <a:rPr lang="en-US" sz="1500" dirty="0">
                <a:solidFill>
                  <a:srgbClr val="C9C2C0"/>
                </a:solidFill>
                <a:latin typeface="Gelasio" pitchFamily="34" charset="0"/>
                <a:ea typeface="Gelasio" pitchFamily="34" charset="-122"/>
                <a:cs typeface="Gelasio" pitchFamily="34" charset="-120"/>
              </a:rPr>
              <a:t>—mathematical structures that capture meaning in a multi-dimensional semantic space. Similar meanings cluster together in this space, regardless of the words used.</a:t>
            </a:r>
            <a:endParaRPr lang="en-US" sz="1500" dirty="0"/>
          </a:p>
        </p:txBody>
      </p:sp>
      <p:sp>
        <p:nvSpPr>
          <p:cNvPr id="9" name="Text 6"/>
          <p:cNvSpPr/>
          <p:nvPr/>
        </p:nvSpPr>
        <p:spPr>
          <a:xfrm>
            <a:off x="9622512" y="4376261"/>
            <a:ext cx="4327922" cy="879753"/>
          </a:xfrm>
          <a:prstGeom prst="rect">
            <a:avLst/>
          </a:prstGeom>
          <a:noFill/>
          <a:ln/>
        </p:spPr>
        <p:txBody>
          <a:bodyPr wrap="square" lIns="0" tIns="0" rIns="0" bIns="0" rtlCol="0" anchor="t"/>
          <a:lstStyle/>
          <a:p>
            <a:pPr algn="l" indent="0" marL="0">
              <a:lnSpc>
                <a:spcPts val="2300"/>
              </a:lnSpc>
              <a:buNone/>
            </a:pPr>
            <a:r>
              <a:rPr lang="en-US" sz="1500" dirty="0">
                <a:solidFill>
                  <a:srgbClr val="C9C2C0"/>
                </a:solidFill>
                <a:latin typeface="Gelasio" pitchFamily="34" charset="0"/>
                <a:ea typeface="Gelasio" pitchFamily="34" charset="-122"/>
                <a:cs typeface="Gelasio" pitchFamily="34" charset="-120"/>
              </a:rPr>
              <a:t>When generating output, the model reshapes this core meaning to fit the desired format, tone, or platform—all while preserving the original intent.</a:t>
            </a:r>
            <a:endParaRPr lang="en-US" sz="1500" dirty="0"/>
          </a:p>
        </p:txBody>
      </p:sp>
      <p:sp>
        <p:nvSpPr>
          <p:cNvPr id="10" name="Shape 7"/>
          <p:cNvSpPr/>
          <p:nvPr/>
        </p:nvSpPr>
        <p:spPr>
          <a:xfrm>
            <a:off x="9622512" y="5447348"/>
            <a:ext cx="4327922" cy="1350169"/>
          </a:xfrm>
          <a:prstGeom prst="roundRect">
            <a:avLst>
              <a:gd name="adj" fmla="val 2183"/>
            </a:avLst>
          </a:prstGeom>
          <a:solidFill>
            <a:srgbClr val="33221A"/>
          </a:solidFill>
          <a:ln/>
        </p:spPr>
      </p:sp>
      <p:pic>
        <p:nvPicPr>
          <p:cNvPr id="11" name="Image 1" descr="preencoded.png">    </p:cNvPr>
          <p:cNvPicPr>
            <a:picLocks noChangeAspect="1"/>
          </p:cNvPicPr>
          <p:nvPr/>
        </p:nvPicPr>
        <p:blipFill>
          <a:blip r:embed="rId2"/>
          <a:stretch>
            <a:fillRect/>
          </a:stretch>
        </p:blipFill>
        <p:spPr>
          <a:xfrm>
            <a:off x="9818846" y="5719048"/>
            <a:ext cx="245507" cy="196334"/>
          </a:xfrm>
          <a:prstGeom prst="rect">
            <a:avLst/>
          </a:prstGeom>
        </p:spPr>
      </p:pic>
      <p:sp>
        <p:nvSpPr>
          <p:cNvPr id="12" name="Text 8"/>
          <p:cNvSpPr/>
          <p:nvPr/>
        </p:nvSpPr>
        <p:spPr>
          <a:xfrm>
            <a:off x="10260687" y="5666542"/>
            <a:ext cx="3493413" cy="879753"/>
          </a:xfrm>
          <a:prstGeom prst="rect">
            <a:avLst/>
          </a:prstGeom>
          <a:noFill/>
          <a:ln/>
        </p:spPr>
        <p:txBody>
          <a:bodyPr wrap="square" lIns="0" tIns="0" rIns="0" bIns="0" rtlCol="0" anchor="t"/>
          <a:lstStyle/>
          <a:p>
            <a:pPr algn="l" indent="0" marL="0">
              <a:lnSpc>
                <a:spcPts val="2300"/>
              </a:lnSpc>
              <a:buNone/>
            </a:pPr>
            <a:r>
              <a:rPr lang="en-US" sz="1500" b="1" dirty="0">
                <a:solidFill>
                  <a:srgbClr val="FFFFFF"/>
                </a:solidFill>
                <a:latin typeface="Gelasio" pitchFamily="34" charset="0"/>
                <a:ea typeface="Gelasio" pitchFamily="34" charset="-122"/>
                <a:cs typeface="Gelasio" pitchFamily="34" charset="-120"/>
              </a:rPr>
              <a:t>One-Line Takeaway:</a:t>
            </a:r>
            <a:pPr algn="l" indent="0" marL="0">
              <a:lnSpc>
                <a:spcPts val="2300"/>
              </a:lnSpc>
              <a:buNone/>
            </a:pPr>
            <a:r>
              <a:rPr lang="en-US" sz="1500" dirty="0">
                <a:solidFill>
                  <a:srgbClr val="FFFFFF"/>
                </a:solidFill>
                <a:latin typeface="Gelasio" pitchFamily="34" charset="0"/>
                <a:ea typeface="Gelasio" pitchFamily="34" charset="-122"/>
                <a:cs typeface="Gelasio" pitchFamily="34" charset="-120"/>
              </a:rPr>
              <a:t> LLMs are semantic transformation engines, not just sentence generators.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379226"/>
          </a:xfrm>
          <a:prstGeom prst="rect">
            <a:avLst/>
          </a:prstGeom>
        </p:spPr>
      </p:pic>
      <p:sp>
        <p:nvSpPr>
          <p:cNvPr id="3" name="Text 0"/>
          <p:cNvSpPr/>
          <p:nvPr/>
        </p:nvSpPr>
        <p:spPr>
          <a:xfrm>
            <a:off x="748308" y="3180278"/>
            <a:ext cx="9029105" cy="594836"/>
          </a:xfrm>
          <a:prstGeom prst="rect">
            <a:avLst/>
          </a:prstGeom>
          <a:noFill/>
          <a:ln/>
        </p:spPr>
        <p:txBody>
          <a:bodyPr wrap="none" lIns="0" tIns="0" rIns="0" bIns="0" rtlCol="0" anchor="t"/>
          <a:lstStyle/>
          <a:p>
            <a:pPr algn="l" indent="0" marL="0">
              <a:lnSpc>
                <a:spcPts val="4650"/>
              </a:lnSpc>
              <a:buNone/>
            </a:pPr>
            <a:r>
              <a:rPr lang="en-US" sz="3700" dirty="0">
                <a:solidFill>
                  <a:srgbClr val="D8B6A4"/>
                </a:solidFill>
                <a:latin typeface="Gelasio" pitchFamily="34" charset="0"/>
                <a:ea typeface="Gelasio" pitchFamily="34" charset="-122"/>
                <a:cs typeface="Gelasio" pitchFamily="34" charset="-120"/>
              </a:rPr>
              <a:t>Why This Matters for Modern Applications</a:t>
            </a:r>
            <a:endParaRPr lang="en-US" sz="3700" dirty="0"/>
          </a:p>
        </p:txBody>
      </p:sp>
      <p:sp>
        <p:nvSpPr>
          <p:cNvPr id="4" name="Text 1"/>
          <p:cNvSpPr/>
          <p:nvPr/>
        </p:nvSpPr>
        <p:spPr>
          <a:xfrm>
            <a:off x="748308" y="4014668"/>
            <a:ext cx="190262" cy="237887"/>
          </a:xfrm>
          <a:prstGeom prst="rect">
            <a:avLst/>
          </a:prstGeom>
          <a:noFill/>
          <a:ln/>
        </p:spPr>
        <p:txBody>
          <a:bodyPr wrap="none" lIns="0" tIns="0" rIns="0" bIns="0" rtlCol="0" anchor="t"/>
          <a:lstStyle/>
          <a:p>
            <a:pPr algn="l" indent="0" marL="0">
              <a:lnSpc>
                <a:spcPts val="2200"/>
              </a:lnSpc>
              <a:buNone/>
            </a:pPr>
            <a:r>
              <a:rPr lang="en-US" sz="1450" dirty="0">
                <a:solidFill>
                  <a:srgbClr val="C9C2C0"/>
                </a:solidFill>
                <a:latin typeface="Gelasio Light" pitchFamily="34" charset="0"/>
                <a:ea typeface="Gelasio Light" pitchFamily="34" charset="-122"/>
                <a:cs typeface="Gelasio Light" pitchFamily="34" charset="-120"/>
              </a:rPr>
              <a:t>01</a:t>
            </a:r>
            <a:endParaRPr lang="en-US" sz="1450" dirty="0"/>
          </a:p>
        </p:txBody>
      </p:sp>
      <p:sp>
        <p:nvSpPr>
          <p:cNvPr id="5" name="Shape 2"/>
          <p:cNvSpPr/>
          <p:nvPr/>
        </p:nvSpPr>
        <p:spPr>
          <a:xfrm>
            <a:off x="748308" y="4315182"/>
            <a:ext cx="6487001" cy="22860"/>
          </a:xfrm>
          <a:prstGeom prst="rect">
            <a:avLst/>
          </a:prstGeom>
          <a:solidFill>
            <a:srgbClr val="C49F8C"/>
          </a:solidFill>
          <a:ln/>
        </p:spPr>
      </p:sp>
      <p:sp>
        <p:nvSpPr>
          <p:cNvPr id="6" name="Text 3"/>
          <p:cNvSpPr/>
          <p:nvPr/>
        </p:nvSpPr>
        <p:spPr>
          <a:xfrm>
            <a:off x="748308" y="4456033"/>
            <a:ext cx="2911793" cy="297299"/>
          </a:xfrm>
          <a:prstGeom prst="rect">
            <a:avLst/>
          </a:prstGeom>
          <a:noFill/>
          <a:ln/>
        </p:spPr>
        <p:txBody>
          <a:bodyPr wrap="none" lIns="0" tIns="0" rIns="0" bIns="0" rtlCol="0" anchor="t"/>
          <a:lstStyle/>
          <a:p>
            <a:pPr algn="l" indent="0" marL="0">
              <a:lnSpc>
                <a:spcPts val="2300"/>
              </a:lnSpc>
              <a:buNone/>
            </a:pPr>
            <a:r>
              <a:rPr lang="en-US" sz="1850" dirty="0">
                <a:solidFill>
                  <a:srgbClr val="C9C2C0"/>
                </a:solidFill>
                <a:latin typeface="Gelasio" pitchFamily="34" charset="0"/>
                <a:ea typeface="Gelasio" pitchFamily="34" charset="-122"/>
                <a:cs typeface="Gelasio" pitchFamily="34" charset="-120"/>
              </a:rPr>
              <a:t>One Idea, Multiple Formats</a:t>
            </a:r>
            <a:endParaRPr lang="en-US" sz="1850" dirty="0"/>
          </a:p>
        </p:txBody>
      </p:sp>
      <p:sp>
        <p:nvSpPr>
          <p:cNvPr id="7" name="Text 4"/>
          <p:cNvSpPr/>
          <p:nvPr/>
        </p:nvSpPr>
        <p:spPr>
          <a:xfrm>
            <a:off x="748308" y="4849058"/>
            <a:ext cx="6487001" cy="280035"/>
          </a:xfrm>
          <a:prstGeom prst="rect">
            <a:avLst/>
          </a:prstGeom>
          <a:noFill/>
          <a:ln/>
        </p:spPr>
        <p:txBody>
          <a:bodyPr wrap="none" lIns="0" tIns="0" rIns="0" bIns="0" rtlCol="0" anchor="t"/>
          <a:lstStyle/>
          <a:p>
            <a:pPr algn="l" indent="0" marL="0">
              <a:lnSpc>
                <a:spcPts val="2200"/>
              </a:lnSpc>
              <a:buNone/>
            </a:pPr>
            <a:r>
              <a:rPr lang="en-US" sz="1450" dirty="0">
                <a:solidFill>
                  <a:srgbClr val="C9C2C0"/>
                </a:solidFill>
                <a:latin typeface="Gelasio" pitchFamily="34" charset="0"/>
                <a:ea typeface="Gelasio" pitchFamily="34" charset="-122"/>
                <a:cs typeface="Gelasio" pitchFamily="34" charset="-120"/>
              </a:rPr>
              <a:t>Transform a single concept into platform-specific content automatically</a:t>
            </a:r>
            <a:endParaRPr lang="en-US" sz="1450" dirty="0"/>
          </a:p>
        </p:txBody>
      </p:sp>
      <p:sp>
        <p:nvSpPr>
          <p:cNvPr id="8" name="Text 5"/>
          <p:cNvSpPr/>
          <p:nvPr/>
        </p:nvSpPr>
        <p:spPr>
          <a:xfrm>
            <a:off x="7394972" y="4014668"/>
            <a:ext cx="190262" cy="237887"/>
          </a:xfrm>
          <a:prstGeom prst="rect">
            <a:avLst/>
          </a:prstGeom>
          <a:noFill/>
          <a:ln/>
        </p:spPr>
        <p:txBody>
          <a:bodyPr wrap="none" lIns="0" tIns="0" rIns="0" bIns="0" rtlCol="0" anchor="t"/>
          <a:lstStyle/>
          <a:p>
            <a:pPr algn="l" indent="0" marL="0">
              <a:lnSpc>
                <a:spcPts val="2200"/>
              </a:lnSpc>
              <a:buNone/>
            </a:pPr>
            <a:r>
              <a:rPr lang="en-US" sz="1450" dirty="0">
                <a:solidFill>
                  <a:srgbClr val="C9C2C0"/>
                </a:solidFill>
                <a:latin typeface="Gelasio Light" pitchFamily="34" charset="0"/>
                <a:ea typeface="Gelasio Light" pitchFamily="34" charset="-122"/>
                <a:cs typeface="Gelasio Light" pitchFamily="34" charset="-120"/>
              </a:rPr>
              <a:t>02</a:t>
            </a:r>
            <a:endParaRPr lang="en-US" sz="1450" dirty="0"/>
          </a:p>
        </p:txBody>
      </p:sp>
      <p:sp>
        <p:nvSpPr>
          <p:cNvPr id="9" name="Shape 6"/>
          <p:cNvSpPr/>
          <p:nvPr/>
        </p:nvSpPr>
        <p:spPr>
          <a:xfrm>
            <a:off x="7394972" y="4315182"/>
            <a:ext cx="6487120" cy="22860"/>
          </a:xfrm>
          <a:prstGeom prst="rect">
            <a:avLst/>
          </a:prstGeom>
          <a:solidFill>
            <a:srgbClr val="C49F8C"/>
          </a:solidFill>
          <a:ln/>
        </p:spPr>
      </p:sp>
      <p:sp>
        <p:nvSpPr>
          <p:cNvPr id="10" name="Text 7"/>
          <p:cNvSpPr/>
          <p:nvPr/>
        </p:nvSpPr>
        <p:spPr>
          <a:xfrm>
            <a:off x="7394972" y="4456033"/>
            <a:ext cx="2727365" cy="297299"/>
          </a:xfrm>
          <a:prstGeom prst="rect">
            <a:avLst/>
          </a:prstGeom>
          <a:noFill/>
          <a:ln/>
        </p:spPr>
        <p:txBody>
          <a:bodyPr wrap="none" lIns="0" tIns="0" rIns="0" bIns="0" rtlCol="0" anchor="t"/>
          <a:lstStyle/>
          <a:p>
            <a:pPr algn="l" indent="0" marL="0">
              <a:lnSpc>
                <a:spcPts val="2300"/>
              </a:lnSpc>
              <a:buNone/>
            </a:pPr>
            <a:r>
              <a:rPr lang="en-US" sz="1850" dirty="0">
                <a:solidFill>
                  <a:srgbClr val="C9C2C0"/>
                </a:solidFill>
                <a:latin typeface="Gelasio" pitchFamily="34" charset="0"/>
                <a:ea typeface="Gelasio" pitchFamily="34" charset="-122"/>
                <a:cs typeface="Gelasio" pitchFamily="34" charset="-120"/>
              </a:rPr>
              <a:t>Scalable Content Creation</a:t>
            </a:r>
            <a:endParaRPr lang="en-US" sz="1850" dirty="0"/>
          </a:p>
        </p:txBody>
      </p:sp>
      <p:sp>
        <p:nvSpPr>
          <p:cNvPr id="11" name="Text 8"/>
          <p:cNvSpPr/>
          <p:nvPr/>
        </p:nvSpPr>
        <p:spPr>
          <a:xfrm>
            <a:off x="7394972" y="4849058"/>
            <a:ext cx="6487120" cy="280035"/>
          </a:xfrm>
          <a:prstGeom prst="rect">
            <a:avLst/>
          </a:prstGeom>
          <a:noFill/>
          <a:ln/>
        </p:spPr>
        <p:txBody>
          <a:bodyPr wrap="none" lIns="0" tIns="0" rIns="0" bIns="0" rtlCol="0" anchor="t"/>
          <a:lstStyle/>
          <a:p>
            <a:pPr algn="l" indent="0" marL="0">
              <a:lnSpc>
                <a:spcPts val="2200"/>
              </a:lnSpc>
              <a:buNone/>
            </a:pPr>
            <a:r>
              <a:rPr lang="en-US" sz="1450" dirty="0">
                <a:solidFill>
                  <a:srgbClr val="C9C2C0"/>
                </a:solidFill>
                <a:latin typeface="Gelasio" pitchFamily="34" charset="0"/>
                <a:ea typeface="Gelasio" pitchFamily="34" charset="-122"/>
                <a:cs typeface="Gelasio" pitchFamily="34" charset="-120"/>
              </a:rPr>
              <a:t>Generate consistent, high-quality content at scale without manual rewriting</a:t>
            </a:r>
            <a:endParaRPr lang="en-US" sz="1450" dirty="0"/>
          </a:p>
        </p:txBody>
      </p:sp>
      <p:sp>
        <p:nvSpPr>
          <p:cNvPr id="12" name="Text 9"/>
          <p:cNvSpPr/>
          <p:nvPr/>
        </p:nvSpPr>
        <p:spPr>
          <a:xfrm>
            <a:off x="748308" y="5431512"/>
            <a:ext cx="190262" cy="237887"/>
          </a:xfrm>
          <a:prstGeom prst="rect">
            <a:avLst/>
          </a:prstGeom>
          <a:noFill/>
          <a:ln/>
        </p:spPr>
        <p:txBody>
          <a:bodyPr wrap="none" lIns="0" tIns="0" rIns="0" bIns="0" rtlCol="0" anchor="t"/>
          <a:lstStyle/>
          <a:p>
            <a:pPr algn="l" indent="0" marL="0">
              <a:lnSpc>
                <a:spcPts val="2200"/>
              </a:lnSpc>
              <a:buNone/>
            </a:pPr>
            <a:r>
              <a:rPr lang="en-US" sz="1450" dirty="0">
                <a:solidFill>
                  <a:srgbClr val="C9C2C0"/>
                </a:solidFill>
                <a:latin typeface="Gelasio Light" pitchFamily="34" charset="0"/>
                <a:ea typeface="Gelasio Light" pitchFamily="34" charset="-122"/>
                <a:cs typeface="Gelasio Light" pitchFamily="34" charset="-120"/>
              </a:rPr>
              <a:t>03</a:t>
            </a:r>
            <a:endParaRPr lang="en-US" sz="1450" dirty="0"/>
          </a:p>
        </p:txBody>
      </p:sp>
      <p:sp>
        <p:nvSpPr>
          <p:cNvPr id="13" name="Shape 10"/>
          <p:cNvSpPr/>
          <p:nvPr/>
        </p:nvSpPr>
        <p:spPr>
          <a:xfrm>
            <a:off x="748308" y="5732026"/>
            <a:ext cx="6487001" cy="22860"/>
          </a:xfrm>
          <a:prstGeom prst="rect">
            <a:avLst/>
          </a:prstGeom>
          <a:solidFill>
            <a:srgbClr val="C49F8C"/>
          </a:solidFill>
          <a:ln/>
        </p:spPr>
      </p:sp>
      <p:sp>
        <p:nvSpPr>
          <p:cNvPr id="14" name="Text 11"/>
          <p:cNvSpPr/>
          <p:nvPr/>
        </p:nvSpPr>
        <p:spPr>
          <a:xfrm>
            <a:off x="748308" y="5872877"/>
            <a:ext cx="2379226" cy="297299"/>
          </a:xfrm>
          <a:prstGeom prst="rect">
            <a:avLst/>
          </a:prstGeom>
          <a:noFill/>
          <a:ln/>
        </p:spPr>
        <p:txBody>
          <a:bodyPr wrap="none" lIns="0" tIns="0" rIns="0" bIns="0" rtlCol="0" anchor="t"/>
          <a:lstStyle/>
          <a:p>
            <a:pPr algn="l" indent="0" marL="0">
              <a:lnSpc>
                <a:spcPts val="2300"/>
              </a:lnSpc>
              <a:buNone/>
            </a:pPr>
            <a:r>
              <a:rPr lang="en-US" sz="1850" dirty="0">
                <a:solidFill>
                  <a:srgbClr val="C9C2C0"/>
                </a:solidFill>
                <a:latin typeface="Gelasio" pitchFamily="34" charset="0"/>
                <a:ea typeface="Gelasio" pitchFamily="34" charset="-122"/>
                <a:cs typeface="Gelasio" pitchFamily="34" charset="-120"/>
              </a:rPr>
              <a:t>No Hard-Coded Rules</a:t>
            </a:r>
            <a:endParaRPr lang="en-US" sz="1850" dirty="0"/>
          </a:p>
        </p:txBody>
      </p:sp>
      <p:sp>
        <p:nvSpPr>
          <p:cNvPr id="15" name="Text 12"/>
          <p:cNvSpPr/>
          <p:nvPr/>
        </p:nvSpPr>
        <p:spPr>
          <a:xfrm>
            <a:off x="748308" y="6265902"/>
            <a:ext cx="6487001" cy="560070"/>
          </a:xfrm>
          <a:prstGeom prst="rect">
            <a:avLst/>
          </a:prstGeom>
          <a:noFill/>
          <a:ln/>
        </p:spPr>
        <p:txBody>
          <a:bodyPr wrap="square" lIns="0" tIns="0" rIns="0" bIns="0" rtlCol="0" anchor="t"/>
          <a:lstStyle/>
          <a:p>
            <a:pPr algn="l" indent="0" marL="0">
              <a:lnSpc>
                <a:spcPts val="2200"/>
              </a:lnSpc>
              <a:buNone/>
            </a:pPr>
            <a:r>
              <a:rPr lang="en-US" sz="1450" dirty="0">
                <a:solidFill>
                  <a:srgbClr val="C9C2C0"/>
                </a:solidFill>
                <a:latin typeface="Gelasio" pitchFamily="34" charset="0"/>
                <a:ea typeface="Gelasio" pitchFamily="34" charset="-122"/>
                <a:cs typeface="Gelasio" pitchFamily="34" charset="-120"/>
              </a:rPr>
              <a:t>Flexible, adaptive systems that understand context rather than following rigid templates</a:t>
            </a:r>
            <a:endParaRPr lang="en-US" sz="1450" dirty="0"/>
          </a:p>
        </p:txBody>
      </p:sp>
      <p:sp>
        <p:nvSpPr>
          <p:cNvPr id="16" name="Text 13"/>
          <p:cNvSpPr/>
          <p:nvPr/>
        </p:nvSpPr>
        <p:spPr>
          <a:xfrm>
            <a:off x="7394972" y="5431512"/>
            <a:ext cx="190262" cy="237887"/>
          </a:xfrm>
          <a:prstGeom prst="rect">
            <a:avLst/>
          </a:prstGeom>
          <a:noFill/>
          <a:ln/>
        </p:spPr>
        <p:txBody>
          <a:bodyPr wrap="none" lIns="0" tIns="0" rIns="0" bIns="0" rtlCol="0" anchor="t"/>
          <a:lstStyle/>
          <a:p>
            <a:pPr algn="l" indent="0" marL="0">
              <a:lnSpc>
                <a:spcPts val="2200"/>
              </a:lnSpc>
              <a:buNone/>
            </a:pPr>
            <a:r>
              <a:rPr lang="en-US" sz="1450" dirty="0">
                <a:solidFill>
                  <a:srgbClr val="C9C2C0"/>
                </a:solidFill>
                <a:latin typeface="Gelasio Light" pitchFamily="34" charset="0"/>
                <a:ea typeface="Gelasio Light" pitchFamily="34" charset="-122"/>
                <a:cs typeface="Gelasio Light" pitchFamily="34" charset="-120"/>
              </a:rPr>
              <a:t>04</a:t>
            </a:r>
            <a:endParaRPr lang="en-US" sz="1450" dirty="0"/>
          </a:p>
        </p:txBody>
      </p:sp>
      <p:sp>
        <p:nvSpPr>
          <p:cNvPr id="17" name="Shape 14"/>
          <p:cNvSpPr/>
          <p:nvPr/>
        </p:nvSpPr>
        <p:spPr>
          <a:xfrm>
            <a:off x="7394972" y="5732026"/>
            <a:ext cx="6487120" cy="22860"/>
          </a:xfrm>
          <a:prstGeom prst="rect">
            <a:avLst/>
          </a:prstGeom>
          <a:solidFill>
            <a:srgbClr val="C49F8C"/>
          </a:solidFill>
          <a:ln/>
        </p:spPr>
      </p:sp>
      <p:sp>
        <p:nvSpPr>
          <p:cNvPr id="18" name="Text 15"/>
          <p:cNvSpPr/>
          <p:nvPr/>
        </p:nvSpPr>
        <p:spPr>
          <a:xfrm>
            <a:off x="7394972" y="5872877"/>
            <a:ext cx="2379226" cy="297299"/>
          </a:xfrm>
          <a:prstGeom prst="rect">
            <a:avLst/>
          </a:prstGeom>
          <a:noFill/>
          <a:ln/>
        </p:spPr>
        <p:txBody>
          <a:bodyPr wrap="none" lIns="0" tIns="0" rIns="0" bIns="0" rtlCol="0" anchor="t"/>
          <a:lstStyle/>
          <a:p>
            <a:pPr algn="l" indent="0" marL="0">
              <a:lnSpc>
                <a:spcPts val="2300"/>
              </a:lnSpc>
              <a:buNone/>
            </a:pPr>
            <a:r>
              <a:rPr lang="en-US" sz="1850" dirty="0">
                <a:solidFill>
                  <a:srgbClr val="C9C2C0"/>
                </a:solidFill>
                <a:latin typeface="Gelasio" pitchFamily="34" charset="0"/>
                <a:ea typeface="Gelasio" pitchFamily="34" charset="-122"/>
                <a:cs typeface="Gelasio" pitchFamily="34" charset="-120"/>
              </a:rPr>
              <a:t>Intelligent Adaptation</a:t>
            </a:r>
            <a:endParaRPr lang="en-US" sz="1850" dirty="0"/>
          </a:p>
        </p:txBody>
      </p:sp>
      <p:sp>
        <p:nvSpPr>
          <p:cNvPr id="19" name="Text 16"/>
          <p:cNvSpPr/>
          <p:nvPr/>
        </p:nvSpPr>
        <p:spPr>
          <a:xfrm>
            <a:off x="7394972" y="6265902"/>
            <a:ext cx="6487120" cy="560070"/>
          </a:xfrm>
          <a:prstGeom prst="rect">
            <a:avLst/>
          </a:prstGeom>
          <a:noFill/>
          <a:ln/>
        </p:spPr>
        <p:txBody>
          <a:bodyPr wrap="square" lIns="0" tIns="0" rIns="0" bIns="0" rtlCol="0" anchor="t"/>
          <a:lstStyle/>
          <a:p>
            <a:pPr algn="l" indent="0" marL="0">
              <a:lnSpc>
                <a:spcPts val="2200"/>
              </a:lnSpc>
              <a:buNone/>
            </a:pPr>
            <a:r>
              <a:rPr lang="en-US" sz="1450" dirty="0">
                <a:solidFill>
                  <a:srgbClr val="C9C2C0"/>
                </a:solidFill>
                <a:latin typeface="Gelasio" pitchFamily="34" charset="0"/>
                <a:ea typeface="Gelasio" pitchFamily="34" charset="-122"/>
                <a:cs typeface="Gelasio" pitchFamily="34" charset="-120"/>
              </a:rPr>
              <a:t>Content automatically adjusts tone, style, and structure based on intended platform and audience</a:t>
            </a:r>
            <a:endParaRPr lang="en-US" sz="1450" dirty="0"/>
          </a:p>
        </p:txBody>
      </p:sp>
      <p:sp>
        <p:nvSpPr>
          <p:cNvPr id="20" name="Text 17"/>
          <p:cNvSpPr/>
          <p:nvPr/>
        </p:nvSpPr>
        <p:spPr>
          <a:xfrm>
            <a:off x="748308" y="7148393"/>
            <a:ext cx="13133784" cy="280035"/>
          </a:xfrm>
          <a:prstGeom prst="rect">
            <a:avLst/>
          </a:prstGeom>
          <a:noFill/>
          <a:ln/>
        </p:spPr>
        <p:txBody>
          <a:bodyPr wrap="none" lIns="0" tIns="0" rIns="0" bIns="0" rtlCol="0" anchor="t"/>
          <a:lstStyle/>
          <a:p>
            <a:pPr algn="l" indent="0" marL="0">
              <a:lnSpc>
                <a:spcPts val="2200"/>
              </a:lnSpc>
              <a:buNone/>
            </a:pPr>
            <a:r>
              <a:rPr lang="en-US" sz="1450" dirty="0">
                <a:solidFill>
                  <a:srgbClr val="C9C2C0"/>
                </a:solidFill>
                <a:latin typeface="Gelasio" pitchFamily="34" charset="0"/>
                <a:ea typeface="Gelasio" pitchFamily="34" charset="-122"/>
                <a:cs typeface="Gelasio" pitchFamily="34" charset="-120"/>
              </a:rPr>
              <a:t>This semantic understanding powers the next generation of intelligent web applications and content creation tools.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2026-02-05T13:41:16Z</dcterms:created>
  <dcterms:modified xsi:type="dcterms:W3CDTF">2026-02-05T13:41:16Z</dcterms:modified>
</cp:coreProperties>
</file>